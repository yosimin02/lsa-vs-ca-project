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59" r:id="rId6"/>
    <p:sldId id="260" r:id="rId7"/>
    <p:sldId id="261" r:id="rId8"/>
    <p:sldId id="262" r:id="rId9"/>
    <p:sldId id="263" r:id="rId10"/>
    <p:sldId id="264"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59" d="100"/>
          <a:sy n="59" d="100"/>
        </p:scale>
        <p:origin x="77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B29FB-61D8-564D-BB45-EA660E162C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DF4C2F-660F-0FE8-EFF2-29674C6490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E9B9B0-BE43-61F1-436E-385D1987280E}"/>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5" name="Footer Placeholder 4">
            <a:extLst>
              <a:ext uri="{FF2B5EF4-FFF2-40B4-BE49-F238E27FC236}">
                <a16:creationId xmlns:a16="http://schemas.microsoft.com/office/drawing/2014/main" id="{39F8DA19-5DA3-91B5-8E5A-CC70D5E757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895CEE-994C-D4E8-0127-B749942D2366}"/>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3741742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7B17F-1FB7-4EF9-9E0C-F29ED8FFA1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9D6405-5B36-7308-3D75-26F21A5FE4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36E30-8CE3-5D3D-29B1-1CE42D19615B}"/>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5" name="Footer Placeholder 4">
            <a:extLst>
              <a:ext uri="{FF2B5EF4-FFF2-40B4-BE49-F238E27FC236}">
                <a16:creationId xmlns:a16="http://schemas.microsoft.com/office/drawing/2014/main" id="{9E7EE9E7-85CF-CD6A-F657-DED48DF3A1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7C7F35-448B-23F7-6976-C3BDCB55B36E}"/>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2231666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C6555-74EB-4FFF-2D7B-9168BF19E5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EC8F29-2C6F-91D1-0A49-019D91BD0B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88A2C0-1D21-3436-9C74-AEB55E5AE867}"/>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5" name="Footer Placeholder 4">
            <a:extLst>
              <a:ext uri="{FF2B5EF4-FFF2-40B4-BE49-F238E27FC236}">
                <a16:creationId xmlns:a16="http://schemas.microsoft.com/office/drawing/2014/main" id="{FC6816B4-EBDF-F7A2-10D0-69FA13B895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9D8577-9880-820F-D217-5F83B7256D97}"/>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3214579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2E4B3-463C-6C46-65F1-148C401421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AD7754-7C5A-353E-C59A-7E8DDF2471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435FF7-12A5-0F15-B8A9-EF306D288A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755BCB-2C93-0BB3-0846-6085BE358286}"/>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6" name="Footer Placeholder 5">
            <a:extLst>
              <a:ext uri="{FF2B5EF4-FFF2-40B4-BE49-F238E27FC236}">
                <a16:creationId xmlns:a16="http://schemas.microsoft.com/office/drawing/2014/main" id="{AE86DB20-040C-7697-2D38-63966CDC8B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9D2320-1A3E-4A51-CF59-BBA0388BDA53}"/>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3222906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4DBFE-D04F-4D15-0BE9-030DFB4365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181931-46F0-73A0-52A3-319A3A5FEE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1DF008-A3F7-04E7-1CF2-7D78BB6877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F6C8C-8F42-F9B3-E755-2A4DF68013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AC44AC-73F8-2C9F-72D6-89D529FBFE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4F5A34-D1ED-1031-7AE0-FE98A36EF73F}"/>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8" name="Footer Placeholder 7">
            <a:extLst>
              <a:ext uri="{FF2B5EF4-FFF2-40B4-BE49-F238E27FC236}">
                <a16:creationId xmlns:a16="http://schemas.microsoft.com/office/drawing/2014/main" id="{0628BC35-F24F-CBF1-C24D-CDEA7CB6BA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FC008E-8D52-49A5-277B-443E64C2FFE5}"/>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895300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C0503-B2CE-83BD-1938-2F44046BBD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CB6C8C-BA1C-D5EE-5E26-77CCD38F9AEA}"/>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4" name="Footer Placeholder 3">
            <a:extLst>
              <a:ext uri="{FF2B5EF4-FFF2-40B4-BE49-F238E27FC236}">
                <a16:creationId xmlns:a16="http://schemas.microsoft.com/office/drawing/2014/main" id="{3CA51564-F24A-1C04-E8DC-AC1586CC57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1CD2D1-A368-331D-975A-603D607BCDFF}"/>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1657662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1510FA-D935-999E-84AD-46CBDA6FF3EE}"/>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3" name="Footer Placeholder 2">
            <a:extLst>
              <a:ext uri="{FF2B5EF4-FFF2-40B4-BE49-F238E27FC236}">
                <a16:creationId xmlns:a16="http://schemas.microsoft.com/office/drawing/2014/main" id="{E968B90A-3A38-97F9-09AA-29C95B9345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6D8CBE-A212-7ADA-23B6-8D4A88E746EE}"/>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180126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51D46-2BDB-A91D-CDE8-CB2A92734B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887414-B460-33E0-CA45-FC5581935F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349960-455B-3E38-F2EF-C10430AE91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D32815-EEAD-A8D8-2A0A-BA7BB63BB162}"/>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6" name="Footer Placeholder 5">
            <a:extLst>
              <a:ext uri="{FF2B5EF4-FFF2-40B4-BE49-F238E27FC236}">
                <a16:creationId xmlns:a16="http://schemas.microsoft.com/office/drawing/2014/main" id="{AE59216E-4575-47C3-F642-2964344700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DD8B14-E566-A39B-495A-5BE342E7A051}"/>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1598883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47F5D-D2EC-D073-7BE4-BDF008FCD8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68322F-E6A1-3B1E-70B1-4B89D0554E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46AD6A-E388-CCD7-488E-5122FF7041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15F442-B0D4-2BDE-0A00-65DD8FBB2615}"/>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6" name="Footer Placeholder 5">
            <a:extLst>
              <a:ext uri="{FF2B5EF4-FFF2-40B4-BE49-F238E27FC236}">
                <a16:creationId xmlns:a16="http://schemas.microsoft.com/office/drawing/2014/main" id="{66B41599-176E-7A88-D235-7954F61FB8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B39789-005B-5050-EF5E-E35669D46178}"/>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2844907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57CAC-6633-C595-8D9D-CB97C16DE8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006010-BC75-222A-8CF9-012C628FEC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25794-9C5D-D545-314B-B3F2468AF006}"/>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5" name="Footer Placeholder 4">
            <a:extLst>
              <a:ext uri="{FF2B5EF4-FFF2-40B4-BE49-F238E27FC236}">
                <a16:creationId xmlns:a16="http://schemas.microsoft.com/office/drawing/2014/main" id="{E1A9A436-0913-13F4-8943-7A37E7AD5B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A7ACB3-8537-D6F7-9B69-F268507FBCC6}"/>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4280055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FCEF53-312C-2C49-36D2-6EDB2857EF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9F411C-91BD-7A39-32F6-98A88EBFB7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29B5E5-9A8B-4598-6C93-7C8D5C9A2DAD}"/>
              </a:ext>
            </a:extLst>
          </p:cNvPr>
          <p:cNvSpPr>
            <a:spLocks noGrp="1"/>
          </p:cNvSpPr>
          <p:nvPr>
            <p:ph type="dt" sz="half" idx="10"/>
          </p:nvPr>
        </p:nvSpPr>
        <p:spPr/>
        <p:txBody>
          <a:bodyPr/>
          <a:lstStyle/>
          <a:p>
            <a:fld id="{18C99B16-63B7-4C74-A38D-72EAB04CDDB0}" type="datetimeFigureOut">
              <a:rPr lang="en-US" smtClean="0"/>
              <a:t>7/7/2025</a:t>
            </a:fld>
            <a:endParaRPr lang="en-US"/>
          </a:p>
        </p:txBody>
      </p:sp>
      <p:sp>
        <p:nvSpPr>
          <p:cNvPr id="5" name="Footer Placeholder 4">
            <a:extLst>
              <a:ext uri="{FF2B5EF4-FFF2-40B4-BE49-F238E27FC236}">
                <a16:creationId xmlns:a16="http://schemas.microsoft.com/office/drawing/2014/main" id="{74F8BFCE-D8E5-75CB-4511-8FC19E7B37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C24F2-030F-6B52-AE3D-D40A6C66258A}"/>
              </a:ext>
            </a:extLst>
          </p:cNvPr>
          <p:cNvSpPr>
            <a:spLocks noGrp="1"/>
          </p:cNvSpPr>
          <p:nvPr>
            <p:ph type="sldNum" sz="quarter" idx="12"/>
          </p:nvPr>
        </p:nvSpPr>
        <p:spPr/>
        <p:txBody>
          <a:bodyPr/>
          <a:lstStyle/>
          <a:p>
            <a:fld id="{1AB76E0E-D0D2-4D96-A14F-5106671EAC37}" type="slidenum">
              <a:rPr lang="en-US" smtClean="0"/>
              <a:t>‹#›</a:t>
            </a:fld>
            <a:endParaRPr lang="en-US"/>
          </a:p>
        </p:txBody>
      </p:sp>
    </p:spTree>
    <p:extLst>
      <p:ext uri="{BB962C8B-B14F-4D97-AF65-F5344CB8AC3E}">
        <p14:creationId xmlns:p14="http://schemas.microsoft.com/office/powerpoint/2010/main" val="3212605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A96440-D882-A933-7664-4670C14F21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9D548D-028E-D967-CDD2-C0FF3F2C04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A25544-05E0-8AB7-151D-0704F6EA6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C99B16-63B7-4C74-A38D-72EAB04CDDB0}" type="datetimeFigureOut">
              <a:rPr lang="en-US" smtClean="0"/>
              <a:t>7/7/2025</a:t>
            </a:fld>
            <a:endParaRPr lang="en-US"/>
          </a:p>
        </p:txBody>
      </p:sp>
      <p:sp>
        <p:nvSpPr>
          <p:cNvPr id="5" name="Footer Placeholder 4">
            <a:extLst>
              <a:ext uri="{FF2B5EF4-FFF2-40B4-BE49-F238E27FC236}">
                <a16:creationId xmlns:a16="http://schemas.microsoft.com/office/drawing/2014/main" id="{BAE52414-910C-D1F7-9A14-B9B99623FC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600772D-73C9-0C89-8818-A0661C2886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B76E0E-D0D2-4D96-A14F-5106671EAC37}" type="slidenum">
              <a:rPr lang="en-US" smtClean="0"/>
              <a:t>‹#›</a:t>
            </a:fld>
            <a:endParaRPr lang="en-US"/>
          </a:p>
        </p:txBody>
      </p:sp>
    </p:spTree>
    <p:extLst>
      <p:ext uri="{BB962C8B-B14F-4D97-AF65-F5344CB8AC3E}">
        <p14:creationId xmlns:p14="http://schemas.microsoft.com/office/powerpoint/2010/main" val="3757907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6DE81B8-5019-1574-958C-9F9AC4CBCCB2}"/>
              </a:ext>
            </a:extLst>
          </p:cNvPr>
          <p:cNvSpPr>
            <a:spLocks noGrp="1"/>
          </p:cNvSpPr>
          <p:nvPr>
            <p:ph type="ctrTitle"/>
          </p:nvPr>
        </p:nvSpPr>
        <p:spPr>
          <a:xfrm>
            <a:off x="640080" y="1243013"/>
            <a:ext cx="3855720" cy="4371974"/>
          </a:xfrm>
        </p:spPr>
        <p:txBody>
          <a:bodyPr vert="horz" lIns="91440" tIns="45720" rIns="91440" bIns="45720" rtlCol="0" anchor="ctr">
            <a:normAutofit/>
          </a:bodyPr>
          <a:lstStyle/>
          <a:p>
            <a:pPr algn="l"/>
            <a:br>
              <a:rPr lang="en-US" sz="2800" kern="1200">
                <a:solidFill>
                  <a:schemeClr val="tx2"/>
                </a:solidFill>
                <a:latin typeface="+mj-lt"/>
                <a:ea typeface="+mj-ea"/>
                <a:cs typeface="+mj-cs"/>
              </a:rPr>
            </a:br>
            <a:r>
              <a:rPr lang="en-US" sz="2800" b="1" kern="1200">
                <a:solidFill>
                  <a:schemeClr val="tx2"/>
                </a:solidFill>
                <a:latin typeface="+mj-lt"/>
                <a:ea typeface="+mj-ea"/>
                <a:cs typeface="+mj-cs"/>
              </a:rPr>
              <a:t>Improving information retrieval through correspondence analysis instead of latent semantic analysis. Comparison of LSA and CA regarding MAP</a:t>
            </a:r>
            <a:br>
              <a:rPr lang="en-US" sz="2800" kern="1200">
                <a:solidFill>
                  <a:schemeClr val="tx2"/>
                </a:solidFill>
                <a:latin typeface="+mj-lt"/>
                <a:ea typeface="+mj-ea"/>
                <a:cs typeface="+mj-cs"/>
              </a:rPr>
            </a:br>
            <a:endParaRPr lang="en-US" sz="2800" kern="1200">
              <a:solidFill>
                <a:schemeClr val="tx2"/>
              </a:solidFill>
              <a:latin typeface="+mj-lt"/>
              <a:ea typeface="+mj-ea"/>
              <a:cs typeface="+mj-cs"/>
            </a:endParaRPr>
          </a:p>
        </p:txBody>
      </p:sp>
      <p:sp>
        <p:nvSpPr>
          <p:cNvPr id="3" name="Subtitle 2">
            <a:extLst>
              <a:ext uri="{FF2B5EF4-FFF2-40B4-BE49-F238E27FC236}">
                <a16:creationId xmlns:a16="http://schemas.microsoft.com/office/drawing/2014/main" id="{C5131BF8-E984-FE70-EDB6-364402887619}"/>
              </a:ext>
            </a:extLst>
          </p:cNvPr>
          <p:cNvSpPr>
            <a:spLocks noGrp="1"/>
          </p:cNvSpPr>
          <p:nvPr>
            <p:ph type="subTitle" idx="1"/>
          </p:nvPr>
        </p:nvSpPr>
        <p:spPr>
          <a:xfrm>
            <a:off x="6172200" y="804672"/>
            <a:ext cx="5221224" cy="5230368"/>
          </a:xfrm>
        </p:spPr>
        <p:txBody>
          <a:bodyPr vert="horz" lIns="91440" tIns="45720" rIns="91440" bIns="45720" rtlCol="0" anchor="ctr">
            <a:normAutofit/>
          </a:bodyPr>
          <a:lstStyle/>
          <a:p>
            <a:pPr indent="-228600" algn="l">
              <a:buFont typeface="Arial" panose="020B0604020202020204" pitchFamily="34" charset="0"/>
              <a:buChar char="•"/>
            </a:pPr>
            <a:endParaRPr lang="en-US" sz="1800" b="1" dirty="0">
              <a:solidFill>
                <a:schemeClr val="tx2"/>
              </a:solidFill>
            </a:endParaRPr>
          </a:p>
          <a:p>
            <a:pPr algn="l"/>
            <a:r>
              <a:rPr lang="en-US" sz="1800" b="1" dirty="0">
                <a:solidFill>
                  <a:schemeClr val="tx2"/>
                </a:solidFill>
              </a:rPr>
              <a:t>Introduction:</a:t>
            </a:r>
            <a:endParaRPr lang="en-US" sz="1800" dirty="0">
              <a:solidFill>
                <a:schemeClr val="tx2"/>
              </a:solidFill>
              <a:effectLst/>
            </a:endParaRPr>
          </a:p>
          <a:p>
            <a:pPr indent="-228600" algn="l">
              <a:buFont typeface="Arial" panose="020B0604020202020204" pitchFamily="34" charset="0"/>
              <a:buChar char="•"/>
            </a:pPr>
            <a:r>
              <a:rPr lang="en-US" sz="1800" i="1" dirty="0">
                <a:solidFill>
                  <a:schemeClr val="tx2"/>
                </a:solidFill>
              </a:rPr>
              <a:t>In our project, we explored two ways to turn text into numbers so we can find similar documents more effectively. The first method, </a:t>
            </a:r>
            <a:r>
              <a:rPr lang="en-US" sz="1800" b="1" i="1" dirty="0">
                <a:solidFill>
                  <a:schemeClr val="tx2"/>
                </a:solidFill>
              </a:rPr>
              <a:t>Latent Semantic Analysis (LSA)</a:t>
            </a:r>
            <a:r>
              <a:rPr lang="en-US" sz="1800" i="1" dirty="0">
                <a:solidFill>
                  <a:schemeClr val="tx2"/>
                </a:solidFill>
              </a:rPr>
              <a:t>, simply runs a truncated singular‐value decomposition (SVD) on the raw term‐frequency matrix. The second, </a:t>
            </a:r>
            <a:r>
              <a:rPr lang="en-US" sz="1800" b="1" i="1" dirty="0">
                <a:solidFill>
                  <a:schemeClr val="tx2"/>
                </a:solidFill>
              </a:rPr>
              <a:t>Correspondence Analysis (CA)</a:t>
            </a:r>
            <a:r>
              <a:rPr lang="en-US" sz="1800" i="1" dirty="0">
                <a:solidFill>
                  <a:schemeClr val="tx2"/>
                </a:solidFill>
              </a:rPr>
              <a:t>, uses the decomposed matrix that is </a:t>
            </a:r>
            <a:r>
              <a:rPr lang="en-US" sz="1800" b="1" i="1" dirty="0">
                <a:solidFill>
                  <a:schemeClr val="tx2"/>
                </a:solidFill>
              </a:rPr>
              <a:t>not</a:t>
            </a:r>
            <a:r>
              <a:rPr lang="en-US" sz="1800" i="1" dirty="0">
                <a:solidFill>
                  <a:schemeClr val="tx2"/>
                </a:solidFill>
              </a:rPr>
              <a:t> the original frequency or weighted matrix, but the matrix of </a:t>
            </a:r>
            <a:r>
              <a:rPr lang="en-US" sz="1800" b="1" i="1" dirty="0">
                <a:solidFill>
                  <a:schemeClr val="tx2"/>
                </a:solidFill>
              </a:rPr>
              <a:t>standardized residuals</a:t>
            </a:r>
            <a:r>
              <a:rPr lang="en-US" sz="1800" i="1" dirty="0">
                <a:solidFill>
                  <a:schemeClr val="tx2"/>
                </a:solidFill>
              </a:rPr>
              <a:t>. In information retrieval, the similarity between a given user query and each document in a document-term matrix is calculated and documents with high similarity are returned</a:t>
            </a:r>
            <a:endParaRPr lang="en-US" sz="1800" dirty="0">
              <a:solidFill>
                <a:schemeClr val="tx2"/>
              </a:solidFill>
              <a:effectLst/>
            </a:endParaRPr>
          </a:p>
          <a:p>
            <a:pPr indent="-228600" algn="l">
              <a:buFont typeface="Arial" panose="020B0604020202020204" pitchFamily="34" charset="0"/>
              <a:buChar char="•"/>
            </a:pPr>
            <a:endParaRPr lang="en-US" sz="1800" dirty="0">
              <a:solidFill>
                <a:schemeClr val="tx2"/>
              </a:solidFill>
            </a:endParaRPr>
          </a:p>
        </p:txBody>
      </p:sp>
    </p:spTree>
    <p:extLst>
      <p:ext uri="{BB962C8B-B14F-4D97-AF65-F5344CB8AC3E}">
        <p14:creationId xmlns:p14="http://schemas.microsoft.com/office/powerpoint/2010/main" val="3992420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0DC0B-987C-875C-5C52-CC605E2E6C8A}"/>
              </a:ext>
            </a:extLst>
          </p:cNvPr>
          <p:cNvSpPr>
            <a:spLocks noGrp="1"/>
          </p:cNvSpPr>
          <p:nvPr>
            <p:ph type="title"/>
          </p:nvPr>
        </p:nvSpPr>
        <p:spPr/>
        <p:txBody>
          <a:bodyPr/>
          <a:lstStyle/>
          <a:p>
            <a:r>
              <a:rPr lang="en-US" b="1" dirty="0"/>
              <a:t>Implementation of our project in R</a:t>
            </a:r>
            <a:br>
              <a:rPr lang="en-US" dirty="0">
                <a:effectLst/>
              </a:rPr>
            </a:br>
            <a:endParaRPr lang="en-US" dirty="0"/>
          </a:p>
        </p:txBody>
      </p:sp>
      <p:sp>
        <p:nvSpPr>
          <p:cNvPr id="3" name="Content Placeholder 2">
            <a:extLst>
              <a:ext uri="{FF2B5EF4-FFF2-40B4-BE49-F238E27FC236}">
                <a16:creationId xmlns:a16="http://schemas.microsoft.com/office/drawing/2014/main" id="{94FC4589-DA96-0628-D034-AD7FC8656CFE}"/>
              </a:ext>
            </a:extLst>
          </p:cNvPr>
          <p:cNvSpPr>
            <a:spLocks noGrp="1"/>
          </p:cNvSpPr>
          <p:nvPr>
            <p:ph idx="1"/>
          </p:nvPr>
        </p:nvSpPr>
        <p:spPr>
          <a:xfrm>
            <a:off x="838200" y="1253330"/>
            <a:ext cx="11353800" cy="5678409"/>
          </a:xfrm>
        </p:spPr>
        <p:txBody>
          <a:bodyPr/>
          <a:lstStyle/>
          <a:p>
            <a:pPr marL="0" indent="0">
              <a:buNone/>
            </a:pPr>
            <a:r>
              <a:rPr lang="en-US" b="1" dirty="0"/>
              <a:t>Dataset:</a:t>
            </a:r>
            <a:endParaRPr lang="en-US" dirty="0">
              <a:effectLst/>
            </a:endParaRPr>
          </a:p>
          <a:p>
            <a:pPr marL="0" indent="0">
              <a:buNone/>
            </a:pPr>
            <a:r>
              <a:rPr lang="en-US" sz="1800" dirty="0"/>
              <a:t>We used the </a:t>
            </a:r>
            <a:r>
              <a:rPr lang="en-US" sz="1800" b="1" dirty="0"/>
              <a:t>full BBC News</a:t>
            </a:r>
            <a:r>
              <a:rPr lang="en-US" sz="1800" dirty="0"/>
              <a:t> corpus (Greene &amp; Cunningham, 2006) of 2225 full-text articles across five categories. The data are organized in subfolders (business, entertainment, politics, sport, tech), with each .txt file containing a complete news article.</a:t>
            </a:r>
          </a:p>
          <a:p>
            <a:r>
              <a:rPr lang="en-US" sz="1800" dirty="0"/>
              <a:t>Each article is between about 90 and 4 400 words long (</a:t>
            </a:r>
            <a:r>
              <a:rPr lang="en-US" sz="1800" b="1" dirty="0"/>
              <a:t>median ≈ 335 words</a:t>
            </a:r>
            <a:r>
              <a:rPr lang="en-US" sz="1800" dirty="0"/>
              <a:t>), giving plenty of content for meaningful retrieval tests.</a:t>
            </a:r>
            <a:endParaRPr lang="en-US" sz="1800" dirty="0">
              <a:effectLst/>
            </a:endParaRPr>
          </a:p>
          <a:p>
            <a:r>
              <a:rPr lang="en-US" sz="1800" dirty="0"/>
              <a:t>The reason why we have </a:t>
            </a:r>
            <a:r>
              <a:rPr lang="en-US" sz="1800" dirty="0" err="1"/>
              <a:t>choosed</a:t>
            </a:r>
            <a:r>
              <a:rPr lang="en-US" sz="1800" dirty="0"/>
              <a:t> this dataset is because of the size and variety: </a:t>
            </a:r>
            <a:r>
              <a:rPr lang="en-US" sz="1800" b="1" dirty="0"/>
              <a:t>2225 articles</a:t>
            </a:r>
            <a:r>
              <a:rPr lang="en-US" sz="1800" dirty="0"/>
              <a:t> across diverse topics.</a:t>
            </a:r>
            <a:endParaRPr lang="en-US" sz="1800" dirty="0">
              <a:effectLst/>
            </a:endParaRPr>
          </a:p>
          <a:p>
            <a:pPr marL="0" indent="0">
              <a:buNone/>
            </a:pPr>
            <a:endParaRPr lang="en-US" dirty="0">
              <a:effectLst/>
            </a:endParaRPr>
          </a:p>
          <a:p>
            <a:endParaRPr lang="en-US" dirty="0"/>
          </a:p>
          <a:p>
            <a:pPr marL="0" indent="0">
              <a:buNone/>
            </a:pPr>
            <a:endParaRPr lang="en-US" dirty="0"/>
          </a:p>
        </p:txBody>
      </p:sp>
      <p:graphicFrame>
        <p:nvGraphicFramePr>
          <p:cNvPr id="10" name="Table 9">
            <a:extLst>
              <a:ext uri="{FF2B5EF4-FFF2-40B4-BE49-F238E27FC236}">
                <a16:creationId xmlns:a16="http://schemas.microsoft.com/office/drawing/2014/main" id="{FF23EEC5-BC06-09AB-9072-E4FFE48D748B}"/>
              </a:ext>
            </a:extLst>
          </p:cNvPr>
          <p:cNvGraphicFramePr>
            <a:graphicFrameLocks noGrp="1"/>
          </p:cNvGraphicFramePr>
          <p:nvPr>
            <p:extLst>
              <p:ext uri="{D42A27DB-BD31-4B8C-83A1-F6EECF244321}">
                <p14:modId xmlns:p14="http://schemas.microsoft.com/office/powerpoint/2010/main" val="493342580"/>
              </p:ext>
            </p:extLst>
          </p:nvPr>
        </p:nvGraphicFramePr>
        <p:xfrm>
          <a:off x="1211825" y="4022050"/>
          <a:ext cx="6921910" cy="2194560"/>
        </p:xfrm>
        <a:graphic>
          <a:graphicData uri="http://schemas.openxmlformats.org/drawingml/2006/table">
            <a:tbl>
              <a:tblPr/>
              <a:tblGrid>
                <a:gridCol w="3460955">
                  <a:extLst>
                    <a:ext uri="{9D8B030D-6E8A-4147-A177-3AD203B41FA5}">
                      <a16:colId xmlns:a16="http://schemas.microsoft.com/office/drawing/2014/main" val="3277426746"/>
                    </a:ext>
                  </a:extLst>
                </a:gridCol>
                <a:gridCol w="3460955">
                  <a:extLst>
                    <a:ext uri="{9D8B030D-6E8A-4147-A177-3AD203B41FA5}">
                      <a16:colId xmlns:a16="http://schemas.microsoft.com/office/drawing/2014/main" val="2814565517"/>
                    </a:ext>
                  </a:extLst>
                </a:gridCol>
              </a:tblGrid>
              <a:tr h="0">
                <a:tc>
                  <a:txBody>
                    <a:bodyPr/>
                    <a:lstStyle/>
                    <a:p>
                      <a:pPr algn="l" rtl="0">
                        <a:buNone/>
                      </a:pPr>
                      <a:r>
                        <a:rPr lang="en-US" b="1" i="0">
                          <a:solidFill>
                            <a:srgbClr val="000000"/>
                          </a:solidFill>
                          <a:effectLst/>
                        </a:rPr>
                        <a:t>category</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n</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5724368"/>
                  </a:ext>
                </a:extLst>
              </a:tr>
              <a:tr h="329299">
                <a:tc>
                  <a:txBody>
                    <a:bodyPr/>
                    <a:lstStyle/>
                    <a:p>
                      <a:pPr algn="l" rtl="0">
                        <a:buNone/>
                      </a:pPr>
                      <a:r>
                        <a:rPr lang="en-US" b="0" i="0" dirty="0">
                          <a:solidFill>
                            <a:srgbClr val="000000"/>
                          </a:solidFill>
                          <a:effectLst/>
                        </a:rPr>
                        <a:t>business</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510</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0545692"/>
                  </a:ext>
                </a:extLst>
              </a:tr>
              <a:tr h="329299">
                <a:tc>
                  <a:txBody>
                    <a:bodyPr/>
                    <a:lstStyle/>
                    <a:p>
                      <a:pPr algn="l" rtl="0">
                        <a:buNone/>
                      </a:pPr>
                      <a:r>
                        <a:rPr lang="en-US" b="0" i="0">
                          <a:solidFill>
                            <a:srgbClr val="000000"/>
                          </a:solidFill>
                          <a:effectLst/>
                        </a:rPr>
                        <a:t>entertainment</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386</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4546622"/>
                  </a:ext>
                </a:extLst>
              </a:tr>
              <a:tr h="329299">
                <a:tc>
                  <a:txBody>
                    <a:bodyPr/>
                    <a:lstStyle/>
                    <a:p>
                      <a:pPr algn="l" rtl="0">
                        <a:buNone/>
                      </a:pPr>
                      <a:r>
                        <a:rPr lang="en-US" b="0" i="0">
                          <a:solidFill>
                            <a:srgbClr val="000000"/>
                          </a:solidFill>
                          <a:effectLst/>
                        </a:rPr>
                        <a:t>politics</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417</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5990814"/>
                  </a:ext>
                </a:extLst>
              </a:tr>
              <a:tr h="329299">
                <a:tc>
                  <a:txBody>
                    <a:bodyPr/>
                    <a:lstStyle/>
                    <a:p>
                      <a:pPr algn="l" rtl="0">
                        <a:buNone/>
                      </a:pPr>
                      <a:r>
                        <a:rPr lang="en-US" b="0" i="0">
                          <a:solidFill>
                            <a:srgbClr val="000000"/>
                          </a:solidFill>
                          <a:effectLst/>
                        </a:rPr>
                        <a:t>sport</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511</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061311"/>
                  </a:ext>
                </a:extLst>
              </a:tr>
              <a:tr h="329299">
                <a:tc>
                  <a:txBody>
                    <a:bodyPr/>
                    <a:lstStyle/>
                    <a:p>
                      <a:pPr algn="l" rtl="0">
                        <a:buNone/>
                      </a:pPr>
                      <a:r>
                        <a:rPr lang="en-US" b="0" i="0" dirty="0">
                          <a:solidFill>
                            <a:srgbClr val="000000"/>
                          </a:solidFill>
                          <a:effectLst/>
                        </a:rPr>
                        <a:t>tech</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401</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6452553"/>
                  </a:ext>
                </a:extLst>
              </a:tr>
            </a:tbl>
          </a:graphicData>
        </a:graphic>
      </p:graphicFrame>
      <p:sp>
        <p:nvSpPr>
          <p:cNvPr id="11" name="Rectangle 4">
            <a:extLst>
              <a:ext uri="{FF2B5EF4-FFF2-40B4-BE49-F238E27FC236}">
                <a16:creationId xmlns:a16="http://schemas.microsoft.com/office/drawing/2014/main" id="{78B62E72-DBE8-4340-8B4C-F69EA4EE15A7}"/>
              </a:ext>
            </a:extLst>
          </p:cNvPr>
          <p:cNvSpPr>
            <a:spLocks noChangeArrowheads="1"/>
          </p:cNvSpPr>
          <p:nvPr/>
        </p:nvSpPr>
        <p:spPr bwMode="auto">
          <a:xfrm>
            <a:off x="680883" y="41168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64536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C4D0B-3C1C-8455-63A6-1955F33AA1B1}"/>
              </a:ext>
            </a:extLst>
          </p:cNvPr>
          <p:cNvSpPr>
            <a:spLocks noGrp="1"/>
          </p:cNvSpPr>
          <p:nvPr>
            <p:ph type="title"/>
          </p:nvPr>
        </p:nvSpPr>
        <p:spPr/>
        <p:txBody>
          <a:bodyPr>
            <a:normAutofit fontScale="90000"/>
          </a:bodyPr>
          <a:lstStyle/>
          <a:p>
            <a:r>
              <a:rPr lang="en-US" b="1" dirty="0"/>
              <a:t>Preprocessing steps and construction of our Data Term Matrix</a:t>
            </a:r>
            <a:br>
              <a:rPr lang="en-US" dirty="0">
                <a:effectLst/>
              </a:rPr>
            </a:br>
            <a:endParaRPr lang="en-US" dirty="0"/>
          </a:p>
        </p:txBody>
      </p:sp>
      <p:sp>
        <p:nvSpPr>
          <p:cNvPr id="11" name="Content Placeholder 10">
            <a:extLst>
              <a:ext uri="{FF2B5EF4-FFF2-40B4-BE49-F238E27FC236}">
                <a16:creationId xmlns:a16="http://schemas.microsoft.com/office/drawing/2014/main" id="{84A05D71-F2F7-ADF5-CF94-68EC632A9CDC}"/>
              </a:ext>
            </a:extLst>
          </p:cNvPr>
          <p:cNvSpPr>
            <a:spLocks noGrp="1"/>
          </p:cNvSpPr>
          <p:nvPr>
            <p:ph idx="1"/>
          </p:nvPr>
        </p:nvSpPr>
        <p:spPr>
          <a:xfrm>
            <a:off x="471243" y="1458278"/>
            <a:ext cx="10515600" cy="4351338"/>
          </a:xfrm>
        </p:spPr>
        <p:txBody>
          <a:bodyPr>
            <a:normAutofit/>
          </a:bodyPr>
          <a:lstStyle/>
          <a:p>
            <a:r>
              <a:rPr lang="en-US" sz="1500" dirty="0"/>
              <a:t>To pre-process the three English datasets, we changed all characters to lower case, removed punctuation marks, numbers, and stop words, and applied lemmatization. Subsequently, terms with frequencies lower than 5 are ignored.</a:t>
            </a:r>
            <a:endParaRPr lang="en-US" sz="1500" dirty="0">
              <a:effectLst/>
            </a:endParaRPr>
          </a:p>
          <a:p>
            <a:r>
              <a:rPr lang="en-US" sz="1500" dirty="0"/>
              <a:t>Later on after preprocessing phase during our further analysis we changed multiple times the threshold of filtering term frequencies to be ignored between 5,10,20,30. We realized that ending up with term frequency&gt;=5 was the most optimal. We have mentioned about it later on during the performance evaluation of LSA’s and CA’s MAP.</a:t>
            </a:r>
            <a:endParaRPr lang="en-US" sz="1500" dirty="0">
              <a:effectLst/>
            </a:endParaRPr>
          </a:p>
          <a:p>
            <a:r>
              <a:rPr lang="en-US" sz="1500" dirty="0"/>
              <a:t>Below is the </a:t>
            </a:r>
            <a:r>
              <a:rPr lang="en-US" sz="1500" b="1" dirty="0"/>
              <a:t>DTM construction </a:t>
            </a:r>
            <a:r>
              <a:rPr lang="en-US" sz="1500" dirty="0"/>
              <a:t>and the resulting summary tables for our full BBC‐News corpus.</a:t>
            </a:r>
          </a:p>
          <a:p>
            <a:endParaRPr lang="en-US" sz="1500" dirty="0">
              <a:effectLst/>
            </a:endParaRPr>
          </a:p>
          <a:p>
            <a:endParaRPr lang="en-US" dirty="0"/>
          </a:p>
        </p:txBody>
      </p:sp>
      <p:graphicFrame>
        <p:nvGraphicFramePr>
          <p:cNvPr id="12" name="Table 11">
            <a:extLst>
              <a:ext uri="{FF2B5EF4-FFF2-40B4-BE49-F238E27FC236}">
                <a16:creationId xmlns:a16="http://schemas.microsoft.com/office/drawing/2014/main" id="{764D0334-594F-A86F-C600-79EE0E928B93}"/>
              </a:ext>
            </a:extLst>
          </p:cNvPr>
          <p:cNvGraphicFramePr>
            <a:graphicFrameLocks noGrp="1"/>
          </p:cNvGraphicFramePr>
          <p:nvPr>
            <p:extLst>
              <p:ext uri="{D42A27DB-BD31-4B8C-83A1-F6EECF244321}">
                <p14:modId xmlns:p14="http://schemas.microsoft.com/office/powerpoint/2010/main" val="3852672867"/>
              </p:ext>
            </p:extLst>
          </p:nvPr>
        </p:nvGraphicFramePr>
        <p:xfrm>
          <a:off x="134316" y="3298634"/>
          <a:ext cx="6221362" cy="2875388"/>
        </p:xfrm>
        <a:graphic>
          <a:graphicData uri="http://schemas.openxmlformats.org/drawingml/2006/table">
            <a:tbl>
              <a:tblPr/>
              <a:tblGrid>
                <a:gridCol w="3110681">
                  <a:extLst>
                    <a:ext uri="{9D8B030D-6E8A-4147-A177-3AD203B41FA5}">
                      <a16:colId xmlns:a16="http://schemas.microsoft.com/office/drawing/2014/main" val="979217142"/>
                    </a:ext>
                  </a:extLst>
                </a:gridCol>
                <a:gridCol w="3110681">
                  <a:extLst>
                    <a:ext uri="{9D8B030D-6E8A-4147-A177-3AD203B41FA5}">
                      <a16:colId xmlns:a16="http://schemas.microsoft.com/office/drawing/2014/main" val="774397979"/>
                    </a:ext>
                  </a:extLst>
                </a:gridCol>
              </a:tblGrid>
              <a:tr h="718847">
                <a:tc>
                  <a:txBody>
                    <a:bodyPr/>
                    <a:lstStyle/>
                    <a:p>
                      <a:pPr algn="l" rtl="0">
                        <a:buNone/>
                      </a:pPr>
                      <a:r>
                        <a:rPr lang="en-US" b="1" i="0" dirty="0">
                          <a:solidFill>
                            <a:srgbClr val="000000"/>
                          </a:solidFill>
                          <a:effectLst/>
                        </a:rPr>
                        <a:t>Metric</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Value</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0781339"/>
                  </a:ext>
                </a:extLst>
              </a:tr>
              <a:tr h="718847">
                <a:tc>
                  <a:txBody>
                    <a:bodyPr/>
                    <a:lstStyle/>
                    <a:p>
                      <a:pPr algn="l" rtl="0">
                        <a:buNone/>
                      </a:pPr>
                      <a:r>
                        <a:rPr lang="en-US" b="0" i="0">
                          <a:solidFill>
                            <a:srgbClr val="000000"/>
                          </a:solidFill>
                          <a:effectLst/>
                        </a:rPr>
                        <a:t>Number of documents</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2225</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0081394"/>
                  </a:ext>
                </a:extLst>
              </a:tr>
              <a:tr h="718847">
                <a:tc>
                  <a:txBody>
                    <a:bodyPr/>
                    <a:lstStyle/>
                    <a:p>
                      <a:pPr algn="l" rtl="0">
                        <a:buNone/>
                      </a:pPr>
                      <a:r>
                        <a:rPr lang="en-US" b="0" i="0" dirty="0">
                          <a:solidFill>
                            <a:srgbClr val="000000"/>
                          </a:solidFill>
                          <a:effectLst/>
                        </a:rPr>
                        <a:t>Vocabulary size (terms ≥10)</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8184</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7493136"/>
                  </a:ext>
                </a:extLst>
              </a:tr>
              <a:tr h="718847">
                <a:tc>
                  <a:txBody>
                    <a:bodyPr/>
                    <a:lstStyle/>
                    <a:p>
                      <a:pPr algn="l" rtl="0">
                        <a:buNone/>
                      </a:pPr>
                      <a:r>
                        <a:rPr lang="en-US" b="0" i="0">
                          <a:solidFill>
                            <a:srgbClr val="000000"/>
                          </a:solidFill>
                          <a:effectLst/>
                        </a:rPr>
                        <a:t>DTM dimensions (docs × terms)</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2225 × 8184</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3237276"/>
                  </a:ext>
                </a:extLst>
              </a:tr>
            </a:tbl>
          </a:graphicData>
        </a:graphic>
      </p:graphicFrame>
      <p:sp>
        <p:nvSpPr>
          <p:cNvPr id="13" name="Rectangle 3">
            <a:extLst>
              <a:ext uri="{FF2B5EF4-FFF2-40B4-BE49-F238E27FC236}">
                <a16:creationId xmlns:a16="http://schemas.microsoft.com/office/drawing/2014/main" id="{17C625C2-9FBA-D368-8B4C-355C2B318196}"/>
              </a:ext>
            </a:extLst>
          </p:cNvPr>
          <p:cNvSpPr>
            <a:spLocks noChangeArrowheads="1"/>
          </p:cNvSpPr>
          <p:nvPr/>
        </p:nvSpPr>
        <p:spPr bwMode="auto">
          <a:xfrm>
            <a:off x="749710" y="3732365"/>
            <a:ext cx="1192125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6" name="Table 15">
            <a:extLst>
              <a:ext uri="{FF2B5EF4-FFF2-40B4-BE49-F238E27FC236}">
                <a16:creationId xmlns:a16="http://schemas.microsoft.com/office/drawing/2014/main" id="{4DCBDEB6-14F9-5D2D-25C1-AA95209CAC59}"/>
              </a:ext>
            </a:extLst>
          </p:cNvPr>
          <p:cNvGraphicFramePr>
            <a:graphicFrameLocks noGrp="1"/>
          </p:cNvGraphicFramePr>
          <p:nvPr>
            <p:extLst>
              <p:ext uri="{D42A27DB-BD31-4B8C-83A1-F6EECF244321}">
                <p14:modId xmlns:p14="http://schemas.microsoft.com/office/powerpoint/2010/main" val="4145085081"/>
              </p:ext>
            </p:extLst>
          </p:nvPr>
        </p:nvGraphicFramePr>
        <p:xfrm>
          <a:off x="6634145" y="3298634"/>
          <a:ext cx="5011990" cy="2966493"/>
        </p:xfrm>
        <a:graphic>
          <a:graphicData uri="http://schemas.openxmlformats.org/drawingml/2006/table">
            <a:tbl>
              <a:tblPr/>
              <a:tblGrid>
                <a:gridCol w="1002398">
                  <a:extLst>
                    <a:ext uri="{9D8B030D-6E8A-4147-A177-3AD203B41FA5}">
                      <a16:colId xmlns:a16="http://schemas.microsoft.com/office/drawing/2014/main" val="1035542502"/>
                    </a:ext>
                  </a:extLst>
                </a:gridCol>
                <a:gridCol w="1002398">
                  <a:extLst>
                    <a:ext uri="{9D8B030D-6E8A-4147-A177-3AD203B41FA5}">
                      <a16:colId xmlns:a16="http://schemas.microsoft.com/office/drawing/2014/main" val="2889549704"/>
                    </a:ext>
                  </a:extLst>
                </a:gridCol>
                <a:gridCol w="1002398">
                  <a:extLst>
                    <a:ext uri="{9D8B030D-6E8A-4147-A177-3AD203B41FA5}">
                      <a16:colId xmlns:a16="http://schemas.microsoft.com/office/drawing/2014/main" val="1363896915"/>
                    </a:ext>
                  </a:extLst>
                </a:gridCol>
                <a:gridCol w="1002398">
                  <a:extLst>
                    <a:ext uri="{9D8B030D-6E8A-4147-A177-3AD203B41FA5}">
                      <a16:colId xmlns:a16="http://schemas.microsoft.com/office/drawing/2014/main" val="2557219915"/>
                    </a:ext>
                  </a:extLst>
                </a:gridCol>
                <a:gridCol w="1002398">
                  <a:extLst>
                    <a:ext uri="{9D8B030D-6E8A-4147-A177-3AD203B41FA5}">
                      <a16:colId xmlns:a16="http://schemas.microsoft.com/office/drawing/2014/main" val="3432366610"/>
                    </a:ext>
                  </a:extLst>
                </a:gridCol>
              </a:tblGrid>
              <a:tr h="805108">
                <a:tc>
                  <a:txBody>
                    <a:bodyPr/>
                    <a:lstStyle/>
                    <a:p>
                      <a:pPr algn="l" rtl="0">
                        <a:buNone/>
                      </a:pPr>
                      <a:r>
                        <a:rPr lang="en-US" b="1" i="0">
                          <a:solidFill>
                            <a:srgbClr val="000000"/>
                          </a:solidFill>
                          <a:effectLst/>
                        </a:rPr>
                        <a:t>300m</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dirty="0">
                          <a:solidFill>
                            <a:srgbClr val="000000"/>
                          </a:solidFill>
                          <a:effectLst/>
                        </a:rPr>
                        <a:t>4</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500m</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600m</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account</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4407490"/>
                  </a:ext>
                </a:extLst>
              </a:tr>
              <a:tr h="805108">
                <a:tc>
                  <a:txBody>
                    <a:bodyPr/>
                    <a:lstStyle/>
                    <a:p>
                      <a:pPr algn="l" rtl="0">
                        <a:buNone/>
                      </a:pPr>
                      <a:r>
                        <a:rPr lang="en-US" b="1" i="0">
                          <a:solidFill>
                            <a:srgbClr val="000000"/>
                          </a:solidFill>
                          <a:effectLst/>
                        </a:rPr>
                        <a:t>ad</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dirty="0">
                          <a:solidFill>
                            <a:srgbClr val="000000"/>
                          </a:solidFill>
                          <a:effectLst/>
                        </a:rPr>
                        <a:t>adjust</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advert</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advertise</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alexander</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5377675"/>
                  </a:ext>
                </a:extLst>
              </a:tr>
              <a:tr h="551169">
                <a:tc>
                  <a:txBody>
                    <a:bodyPr/>
                    <a:lstStyle/>
                    <a:p>
                      <a:pPr algn="l" rtl="0">
                        <a:buNone/>
                      </a:pPr>
                      <a:r>
                        <a:rPr lang="en-US" b="1" i="0">
                          <a:solidFill>
                            <a:srgbClr val="000000"/>
                          </a:solidFill>
                          <a:effectLst/>
                        </a:rPr>
                        <a:t>amount</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analyst</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aol</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benefit</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big</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9178043"/>
                  </a:ext>
                </a:extLst>
              </a:tr>
              <a:tr h="805108">
                <a:tc>
                  <a:txBody>
                    <a:bodyPr/>
                    <a:lstStyle/>
                    <a:p>
                      <a:pPr algn="l" rtl="0">
                        <a:buNone/>
                      </a:pPr>
                      <a:r>
                        <a:rPr lang="en-US" b="1" i="0">
                          <a:solidFill>
                            <a:srgbClr val="000000"/>
                          </a:solidFill>
                          <a:effectLst/>
                        </a:rPr>
                        <a:t>book</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boost</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box</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broadband</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dirty="0">
                          <a:solidFill>
                            <a:srgbClr val="000000"/>
                          </a:solidFill>
                          <a:effectLst/>
                        </a:rPr>
                        <a:t>bros</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5296332"/>
                  </a:ext>
                </a:extLst>
              </a:tr>
            </a:tbl>
          </a:graphicData>
        </a:graphic>
      </p:graphicFrame>
      <p:sp>
        <p:nvSpPr>
          <p:cNvPr id="17" name="Rectangle 5">
            <a:extLst>
              <a:ext uri="{FF2B5EF4-FFF2-40B4-BE49-F238E27FC236}">
                <a16:creationId xmlns:a16="http://schemas.microsoft.com/office/drawing/2014/main" id="{544196C3-0A9A-6B49-EF65-18E312BAB7C7}"/>
              </a:ext>
            </a:extLst>
          </p:cNvPr>
          <p:cNvSpPr>
            <a:spLocks noChangeArrowheads="1"/>
          </p:cNvSpPr>
          <p:nvPr/>
        </p:nvSpPr>
        <p:spPr bwMode="auto">
          <a:xfrm flipV="1">
            <a:off x="7724271" y="3178335"/>
            <a:ext cx="67115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815570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8C886788-700E-4D20-9F80-E0E96837A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2" name="Freeform: Shape 71">
            <a:extLst>
              <a:ext uri="{FF2B5EF4-FFF2-40B4-BE49-F238E27FC236}">
                <a16:creationId xmlns:a16="http://schemas.microsoft.com/office/drawing/2014/main" id="{1850674C-4E08-4C62-A3E2-6337FE4F7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Freeform: Shape 73">
            <a:extLst>
              <a:ext uri="{FF2B5EF4-FFF2-40B4-BE49-F238E27FC236}">
                <a16:creationId xmlns:a16="http://schemas.microsoft.com/office/drawing/2014/main" id="{BCE4FF05-2B0C-4C97-A9B4-E163085A9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AA1D49-1EEB-DEED-423B-93371471257B}"/>
              </a:ext>
            </a:extLst>
          </p:cNvPr>
          <p:cNvSpPr>
            <a:spLocks noGrp="1"/>
          </p:cNvSpPr>
          <p:nvPr>
            <p:ph type="title"/>
          </p:nvPr>
        </p:nvSpPr>
        <p:spPr>
          <a:xfrm>
            <a:off x="475488" y="1124712"/>
            <a:ext cx="4023360" cy="3200400"/>
          </a:xfrm>
        </p:spPr>
        <p:txBody>
          <a:bodyPr vert="horz" lIns="91440" tIns="45720" rIns="91440" bIns="45720" rtlCol="0" anchor="b">
            <a:normAutofit/>
          </a:bodyPr>
          <a:lstStyle/>
          <a:p>
            <a:r>
              <a:rPr lang="en-US" sz="4800" b="1" dirty="0"/>
              <a:t>Data in R environment after preprocessing</a:t>
            </a:r>
          </a:p>
        </p:txBody>
      </p:sp>
      <p:sp>
        <p:nvSpPr>
          <p:cNvPr id="76" name="Rectangle 75">
            <a:extLst>
              <a:ext uri="{FF2B5EF4-FFF2-40B4-BE49-F238E27FC236}">
                <a16:creationId xmlns:a16="http://schemas.microsoft.com/office/drawing/2014/main" id="{529C2A7A-A6B6-4A56-B11C-8E967D88A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descr="A screenshot of a computer&#10;&#10;AI-generated content may be incorrect.">
            <a:extLst>
              <a:ext uri="{FF2B5EF4-FFF2-40B4-BE49-F238E27FC236}">
                <a16:creationId xmlns:a16="http://schemas.microsoft.com/office/drawing/2014/main" id="{45AA5EB7-7509-5C40-4815-FA242EE8FD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4174" y="120272"/>
            <a:ext cx="5989326" cy="1303432"/>
          </a:xfrm>
          <a:prstGeom prst="rect">
            <a:avLst/>
          </a:prstGeom>
        </p:spPr>
      </p:pic>
      <p:sp>
        <p:nvSpPr>
          <p:cNvPr id="78" name="Rectangle 77">
            <a:extLst>
              <a:ext uri="{FF2B5EF4-FFF2-40B4-BE49-F238E27FC236}">
                <a16:creationId xmlns:a16="http://schemas.microsoft.com/office/drawing/2014/main" id="{FDBD7205-E536-4134-8768-AC3E1A3C5E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Content Placeholder 9" descr="A screenshot of a table&#10;&#10;AI-generated content may be incorrect.">
            <a:extLst>
              <a:ext uri="{FF2B5EF4-FFF2-40B4-BE49-F238E27FC236}">
                <a16:creationId xmlns:a16="http://schemas.microsoft.com/office/drawing/2014/main" id="{AA48061F-C496-44AA-FF7F-9878B2B798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4695" y="1847298"/>
            <a:ext cx="2378420" cy="3786793"/>
          </a:xfrm>
          <a:prstGeom prst="rect">
            <a:avLst/>
          </a:prstGeom>
        </p:spPr>
      </p:pic>
      <p:pic>
        <p:nvPicPr>
          <p:cNvPr id="7" name="Content Placeholder 6" descr="A screenshot of a computer&#10;&#10;AI-generated content may be incorrect.">
            <a:extLst>
              <a:ext uri="{FF2B5EF4-FFF2-40B4-BE49-F238E27FC236}">
                <a16:creationId xmlns:a16="http://schemas.microsoft.com/office/drawing/2014/main" id="{D0A44AF1-E301-AA79-2E5B-83089B2A11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76195" y="1778472"/>
            <a:ext cx="4612345" cy="4145248"/>
          </a:xfrm>
          <a:prstGeom prst="rect">
            <a:avLst/>
          </a:prstGeom>
        </p:spPr>
      </p:pic>
    </p:spTree>
    <p:extLst>
      <p:ext uri="{BB962C8B-B14F-4D97-AF65-F5344CB8AC3E}">
        <p14:creationId xmlns:p14="http://schemas.microsoft.com/office/powerpoint/2010/main" val="1103384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94C11F-98F5-1BDC-CCA8-88E8D897F405}"/>
              </a:ext>
            </a:extLst>
          </p:cNvPr>
          <p:cNvSpPr>
            <a:spLocks noGrp="1"/>
          </p:cNvSpPr>
          <p:nvPr>
            <p:ph type="title"/>
          </p:nvPr>
        </p:nvSpPr>
        <p:spPr>
          <a:xfrm>
            <a:off x="838198" y="547815"/>
            <a:ext cx="5167185" cy="1680519"/>
          </a:xfrm>
        </p:spPr>
        <p:txBody>
          <a:bodyPr>
            <a:normAutofit/>
          </a:bodyPr>
          <a:lstStyle/>
          <a:p>
            <a:r>
              <a:rPr lang="en-US" sz="3700" b="1" dirty="0"/>
              <a:t>LSA and CA implementation</a:t>
            </a:r>
            <a:br>
              <a:rPr lang="en-US" sz="3700" dirty="0">
                <a:effectLst/>
              </a:rPr>
            </a:br>
            <a:endParaRPr lang="en-US" sz="3700" dirty="0"/>
          </a:p>
        </p:txBody>
      </p:sp>
      <p:sp>
        <p:nvSpPr>
          <p:cNvPr id="3" name="Content Placeholder 2">
            <a:extLst>
              <a:ext uri="{FF2B5EF4-FFF2-40B4-BE49-F238E27FC236}">
                <a16:creationId xmlns:a16="http://schemas.microsoft.com/office/drawing/2014/main" id="{E79AB2E3-1ED7-0DB8-CC68-DE066E1E5C89}"/>
              </a:ext>
            </a:extLst>
          </p:cNvPr>
          <p:cNvSpPr>
            <a:spLocks noGrp="1"/>
          </p:cNvSpPr>
          <p:nvPr>
            <p:ph idx="1"/>
          </p:nvPr>
        </p:nvSpPr>
        <p:spPr>
          <a:xfrm>
            <a:off x="6096000" y="334297"/>
            <a:ext cx="5414681" cy="2290570"/>
          </a:xfrm>
        </p:spPr>
        <p:txBody>
          <a:bodyPr anchor="ctr">
            <a:normAutofit fontScale="32500" lnSpcReduction="20000"/>
          </a:bodyPr>
          <a:lstStyle/>
          <a:p>
            <a:pPr marL="0" indent="0">
              <a:buNone/>
            </a:pPr>
            <a:r>
              <a:rPr lang="en-US" sz="1000" b="1" dirty="0"/>
              <a:t> What we did:</a:t>
            </a:r>
            <a:endParaRPr lang="en-US" sz="1000" dirty="0">
              <a:effectLst/>
            </a:endParaRPr>
          </a:p>
          <a:p>
            <a:r>
              <a:rPr lang="en-US" sz="3200" b="1" dirty="0"/>
              <a:t>LSA‐RAW</a:t>
            </a:r>
            <a:r>
              <a:rPr lang="en-US" sz="3200" dirty="0"/>
              <a:t>: We performed a truncated SVD on the</a:t>
            </a:r>
            <a:r>
              <a:rPr lang="en-US" sz="3200" b="1" dirty="0"/>
              <a:t> raw document–term matrix A</a:t>
            </a:r>
            <a:r>
              <a:rPr lang="en-US" sz="3200" dirty="0"/>
              <a:t> and extracted the first </a:t>
            </a:r>
            <a:r>
              <a:rPr lang="en-US" sz="3200" b="1" dirty="0"/>
              <a:t>k=4 </a:t>
            </a:r>
            <a:r>
              <a:rPr lang="en-US" sz="3200" dirty="0"/>
              <a:t>singular values {</a:t>
            </a:r>
            <a:r>
              <a:rPr lang="en-US" sz="3200" dirty="0" err="1"/>
              <a:t>σi</a:t>
            </a:r>
            <a:r>
              <a:rPr lang="en-US" sz="3200" dirty="0"/>
              <a:t>}. In practice, this corresponds to the decomposition. </a:t>
            </a:r>
            <a:endParaRPr lang="en-US" sz="3200" dirty="0">
              <a:effectLst/>
            </a:endParaRPr>
          </a:p>
          <a:p>
            <a:r>
              <a:rPr lang="en-US" sz="3200" b="1" dirty="0" err="1"/>
              <a:t>A≃Uk</a:t>
            </a:r>
            <a:r>
              <a:rPr lang="en-US" sz="3200" b="1" dirty="0"/>
              <a:t>​</a:t>
            </a:r>
            <a:r>
              <a:rPr lang="en-US" sz="3200" b="1" dirty="0" err="1"/>
              <a:t>Σk</a:t>
            </a:r>
            <a:r>
              <a:rPr lang="en-US" sz="3200" b="1" dirty="0"/>
              <a:t>​</a:t>
            </a:r>
            <a:r>
              <a:rPr lang="en-US" sz="3200" b="1" dirty="0" err="1"/>
              <a:t>VkT</a:t>
            </a:r>
            <a:endParaRPr lang="en-US" sz="3200" dirty="0">
              <a:effectLst/>
            </a:endParaRPr>
          </a:p>
          <a:p>
            <a:r>
              <a:rPr lang="en-US" sz="3200" dirty="0"/>
              <a:t>We looked at the top 10 singular values (σ₁ to σ₁₀) to understand how quickly the main information captured by LSA becomes less significant.</a:t>
            </a:r>
            <a:endParaRPr lang="en-US" sz="3200" dirty="0">
              <a:effectLst/>
            </a:endParaRPr>
          </a:p>
          <a:p>
            <a:r>
              <a:rPr lang="en-US" sz="3200" b="1" dirty="0"/>
              <a:t>CA‐RAW</a:t>
            </a:r>
            <a:r>
              <a:rPr lang="en-US" sz="3200" dirty="0"/>
              <a:t>: We built the matrix of </a:t>
            </a:r>
            <a:r>
              <a:rPr lang="en-US" sz="3200" b="1" dirty="0"/>
              <a:t>standardized residuals.</a:t>
            </a:r>
            <a:endParaRPr lang="en-US" sz="3200" dirty="0">
              <a:effectLst/>
            </a:endParaRPr>
          </a:p>
          <a:p>
            <a:r>
              <a:rPr lang="en-US" sz="3200" b="1" dirty="0"/>
              <a:t>S=Dr^−1/2​(</a:t>
            </a:r>
            <a:r>
              <a:rPr lang="en-US" sz="3200" b="1" dirty="0" err="1"/>
              <a:t>P−rc^T</a:t>
            </a:r>
            <a:r>
              <a:rPr lang="en-US" sz="3200" b="1" dirty="0"/>
              <a:t>)Dc^−1/2​</a:t>
            </a:r>
            <a:endParaRPr lang="en-US" sz="3200" dirty="0">
              <a:effectLst/>
            </a:endParaRPr>
          </a:p>
          <a:p>
            <a:r>
              <a:rPr lang="en-US" sz="3200" dirty="0"/>
              <a:t>We applied a truncated SVD to the matrix S, which gave us singular values d1,.....,dk​. The squares of these values (di^2​) represent the main components which are our eigenvalues </a:t>
            </a:r>
            <a:r>
              <a:rPr lang="en-US" sz="3100" dirty="0"/>
              <a:t>in the Correspondence Analysis (CA). We focused on the top four eigenvalues to see how much of the total association each CA dimension explains.</a:t>
            </a:r>
          </a:p>
          <a:p>
            <a:endParaRPr lang="en-US" sz="500" dirty="0">
              <a:effectLst/>
            </a:endParaRPr>
          </a:p>
        </p:txBody>
      </p:sp>
      <p:pic>
        <p:nvPicPr>
          <p:cNvPr id="13" name="Picture 12" descr="A graph with orange lines&#10;&#10;AI-generated content may be incorrect.">
            <a:extLst>
              <a:ext uri="{FF2B5EF4-FFF2-40B4-BE49-F238E27FC236}">
                <a16:creationId xmlns:a16="http://schemas.microsoft.com/office/drawing/2014/main" id="{55A91632-A222-D4D2-8B0D-48A5896E5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777" y="3170546"/>
            <a:ext cx="5167185" cy="3204953"/>
          </a:xfrm>
          <a:prstGeom prst="rect">
            <a:avLst/>
          </a:prstGeom>
        </p:spPr>
      </p:pic>
      <p:sp>
        <p:nvSpPr>
          <p:cNvPr id="7" name="Rectangle 2">
            <a:extLst>
              <a:ext uri="{FF2B5EF4-FFF2-40B4-BE49-F238E27FC236}">
                <a16:creationId xmlns:a16="http://schemas.microsoft.com/office/drawing/2014/main" id="{E8FEB69D-9F2D-C71F-6CEF-11A6966A6E79}"/>
              </a:ext>
            </a:extLst>
          </p:cNvPr>
          <p:cNvSpPr>
            <a:spLocks noChangeArrowheads="1"/>
          </p:cNvSpPr>
          <p:nvPr/>
        </p:nvSpPr>
        <p:spPr bwMode="auto">
          <a:xfrm>
            <a:off x="159773" y="3687454"/>
            <a:ext cx="6415194" cy="50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6" name="Table 5">
            <a:extLst>
              <a:ext uri="{FF2B5EF4-FFF2-40B4-BE49-F238E27FC236}">
                <a16:creationId xmlns:a16="http://schemas.microsoft.com/office/drawing/2014/main" id="{A39854E6-8629-2507-DD5C-8D713089B7C3}"/>
              </a:ext>
            </a:extLst>
          </p:cNvPr>
          <p:cNvGraphicFramePr>
            <a:graphicFrameLocks noGrp="1"/>
          </p:cNvGraphicFramePr>
          <p:nvPr>
            <p:extLst>
              <p:ext uri="{D42A27DB-BD31-4B8C-83A1-F6EECF244321}">
                <p14:modId xmlns:p14="http://schemas.microsoft.com/office/powerpoint/2010/main" val="2682505252"/>
              </p:ext>
            </p:extLst>
          </p:nvPr>
        </p:nvGraphicFramePr>
        <p:xfrm>
          <a:off x="6574967" y="3176453"/>
          <a:ext cx="5167186" cy="3514527"/>
        </p:xfrm>
        <a:graphic>
          <a:graphicData uri="http://schemas.openxmlformats.org/drawingml/2006/table">
            <a:tbl>
              <a:tblPr firstRow="1" bandRow="1"/>
              <a:tblGrid>
                <a:gridCol w="1251700">
                  <a:extLst>
                    <a:ext uri="{9D8B030D-6E8A-4147-A177-3AD203B41FA5}">
                      <a16:colId xmlns:a16="http://schemas.microsoft.com/office/drawing/2014/main" val="2157008657"/>
                    </a:ext>
                  </a:extLst>
                </a:gridCol>
                <a:gridCol w="1739829">
                  <a:extLst>
                    <a:ext uri="{9D8B030D-6E8A-4147-A177-3AD203B41FA5}">
                      <a16:colId xmlns:a16="http://schemas.microsoft.com/office/drawing/2014/main" val="1204762084"/>
                    </a:ext>
                  </a:extLst>
                </a:gridCol>
                <a:gridCol w="2175657">
                  <a:extLst>
                    <a:ext uri="{9D8B030D-6E8A-4147-A177-3AD203B41FA5}">
                      <a16:colId xmlns:a16="http://schemas.microsoft.com/office/drawing/2014/main" val="572989663"/>
                    </a:ext>
                  </a:extLst>
                </a:gridCol>
              </a:tblGrid>
              <a:tr h="1305395">
                <a:tc>
                  <a:txBody>
                    <a:bodyPr/>
                    <a:lstStyle/>
                    <a:p>
                      <a:pPr algn="l" rtl="0">
                        <a:buNone/>
                      </a:pPr>
                      <a:r>
                        <a:rPr lang="en-US" sz="2500" b="1" i="0">
                          <a:solidFill>
                            <a:srgbClr val="000000"/>
                          </a:solidFill>
                          <a:effectLst/>
                        </a:rPr>
                        <a:t>Index</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sz="2500" b="1" i="0">
                          <a:solidFill>
                            <a:srgbClr val="000000"/>
                          </a:solidFill>
                          <a:effectLst/>
                        </a:rPr>
                        <a:t>LSA Singular Value </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sz="2500" b="1" i="0" dirty="0">
                          <a:solidFill>
                            <a:srgbClr val="000000"/>
                          </a:solidFill>
                          <a:effectLst/>
                        </a:rPr>
                        <a:t>CA Eigenvalue </a:t>
                      </a:r>
                      <a:endParaRPr lang="en-US" sz="2500" dirty="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1731298"/>
                  </a:ext>
                </a:extLst>
              </a:tr>
              <a:tr h="552283">
                <a:tc>
                  <a:txBody>
                    <a:bodyPr/>
                    <a:lstStyle/>
                    <a:p>
                      <a:pPr algn="l" rtl="0">
                        <a:buNone/>
                      </a:pPr>
                      <a:r>
                        <a:rPr lang="en-US" sz="2500" b="0" i="0">
                          <a:solidFill>
                            <a:srgbClr val="000000"/>
                          </a:solidFill>
                          <a:effectLst/>
                        </a:rPr>
                        <a:t>1</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sz="2500" b="0" i="0">
                          <a:solidFill>
                            <a:srgbClr val="000000"/>
                          </a:solidFill>
                          <a:effectLst/>
                        </a:rPr>
                        <a:t>242.8694</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sz="2500" b="0" i="0">
                          <a:solidFill>
                            <a:srgbClr val="000000"/>
                          </a:solidFill>
                          <a:effectLst/>
                        </a:rPr>
                        <a:t>0.46197</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198118"/>
                  </a:ext>
                </a:extLst>
              </a:tr>
              <a:tr h="552283">
                <a:tc>
                  <a:txBody>
                    <a:bodyPr/>
                    <a:lstStyle/>
                    <a:p>
                      <a:pPr algn="l" rtl="0">
                        <a:buNone/>
                      </a:pPr>
                      <a:r>
                        <a:rPr lang="en-US" sz="2500" b="0" i="0">
                          <a:solidFill>
                            <a:srgbClr val="000000"/>
                          </a:solidFill>
                          <a:effectLst/>
                        </a:rPr>
                        <a:t>2</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sz="2500" b="0" i="0" dirty="0">
                          <a:solidFill>
                            <a:srgbClr val="000000"/>
                          </a:solidFill>
                          <a:effectLst/>
                        </a:rPr>
                        <a:t>153.4923</a:t>
                      </a:r>
                      <a:endParaRPr lang="en-US" sz="2500" dirty="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sz="2500" b="0" i="0">
                          <a:solidFill>
                            <a:srgbClr val="000000"/>
                          </a:solidFill>
                          <a:effectLst/>
                        </a:rPr>
                        <a:t>0.38690</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13961"/>
                  </a:ext>
                </a:extLst>
              </a:tr>
              <a:tr h="552283">
                <a:tc>
                  <a:txBody>
                    <a:bodyPr/>
                    <a:lstStyle/>
                    <a:p>
                      <a:pPr algn="l" rtl="0">
                        <a:buNone/>
                      </a:pPr>
                      <a:r>
                        <a:rPr lang="en-US" sz="2500" b="0" i="0">
                          <a:solidFill>
                            <a:srgbClr val="000000"/>
                          </a:solidFill>
                          <a:effectLst/>
                        </a:rPr>
                        <a:t>3</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sz="2500" b="0" i="0">
                          <a:solidFill>
                            <a:srgbClr val="000000"/>
                          </a:solidFill>
                          <a:effectLst/>
                        </a:rPr>
                        <a:t>141.7686</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sz="2500" b="0" i="0">
                          <a:solidFill>
                            <a:srgbClr val="000000"/>
                          </a:solidFill>
                          <a:effectLst/>
                        </a:rPr>
                        <a:t>0.37335</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6431598"/>
                  </a:ext>
                </a:extLst>
              </a:tr>
              <a:tr h="552283">
                <a:tc>
                  <a:txBody>
                    <a:bodyPr/>
                    <a:lstStyle/>
                    <a:p>
                      <a:pPr algn="l" rtl="0">
                        <a:buNone/>
                      </a:pPr>
                      <a:r>
                        <a:rPr lang="en-US" sz="2500" b="0" i="0">
                          <a:solidFill>
                            <a:srgbClr val="000000"/>
                          </a:solidFill>
                          <a:effectLst/>
                        </a:rPr>
                        <a:t>4</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sz="2500" b="0" i="0">
                          <a:solidFill>
                            <a:srgbClr val="000000"/>
                          </a:solidFill>
                          <a:effectLst/>
                        </a:rPr>
                        <a:t>139.2346</a:t>
                      </a:r>
                      <a:endParaRPr lang="en-US" sz="250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sz="2500" b="0" i="0" dirty="0">
                          <a:solidFill>
                            <a:srgbClr val="000000"/>
                          </a:solidFill>
                          <a:effectLst/>
                        </a:rPr>
                        <a:t>0.35165</a:t>
                      </a:r>
                      <a:endParaRPr lang="en-US" sz="2500" dirty="0">
                        <a:effectLst/>
                      </a:endParaRPr>
                    </a:p>
                  </a:txBody>
                  <a:tcPr marL="125519" marR="125519" marT="62759" marB="62759"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8031878"/>
                  </a:ext>
                </a:extLst>
              </a:tr>
            </a:tbl>
          </a:graphicData>
        </a:graphic>
      </p:graphicFrame>
    </p:spTree>
    <p:extLst>
      <p:ext uri="{BB962C8B-B14F-4D97-AF65-F5344CB8AC3E}">
        <p14:creationId xmlns:p14="http://schemas.microsoft.com/office/powerpoint/2010/main" val="763181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E298ED-331D-A253-36DC-90A439D5AC2F}"/>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b="1" i="1"/>
              <a:t>Biplots of LSA and CA</a:t>
            </a:r>
            <a:br>
              <a:rPr lang="en-US" sz="4600">
                <a:effectLst/>
              </a:rPr>
            </a:br>
            <a:endParaRPr lang="en-US" sz="4600"/>
          </a:p>
        </p:txBody>
      </p:sp>
      <p:sp>
        <p:nvSpPr>
          <p:cNvPr id="31"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graph with colorful dots&#10;&#10;AI-generated content may be incorrect.">
            <a:extLst>
              <a:ext uri="{FF2B5EF4-FFF2-40B4-BE49-F238E27FC236}">
                <a16:creationId xmlns:a16="http://schemas.microsoft.com/office/drawing/2014/main" id="{0B4EFD32-6033-4A82-DD22-34856A41AE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579" y="2099781"/>
            <a:ext cx="4587753" cy="4301019"/>
          </a:xfrm>
          <a:prstGeom prst="rect">
            <a:avLst/>
          </a:prstGeom>
        </p:spPr>
      </p:pic>
      <p:pic>
        <p:nvPicPr>
          <p:cNvPr id="10" name="Picture 9" descr="A graph with colored dots&#10;&#10;AI-generated content may be incorrect.">
            <a:extLst>
              <a:ext uri="{FF2B5EF4-FFF2-40B4-BE49-F238E27FC236}">
                <a16:creationId xmlns:a16="http://schemas.microsoft.com/office/drawing/2014/main" id="{4596AFC3-AA8E-3C56-EC09-46FC5C7780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6242" y="2141848"/>
            <a:ext cx="6391519" cy="4106552"/>
          </a:xfrm>
          <a:prstGeom prst="rect">
            <a:avLst/>
          </a:prstGeom>
        </p:spPr>
      </p:pic>
    </p:spTree>
    <p:extLst>
      <p:ext uri="{BB962C8B-B14F-4D97-AF65-F5344CB8AC3E}">
        <p14:creationId xmlns:p14="http://schemas.microsoft.com/office/powerpoint/2010/main" val="2991917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55F59-2188-01CA-7ADA-7BCDBE47429F}"/>
              </a:ext>
            </a:extLst>
          </p:cNvPr>
          <p:cNvSpPr>
            <a:spLocks noGrp="1"/>
          </p:cNvSpPr>
          <p:nvPr>
            <p:ph type="title"/>
          </p:nvPr>
        </p:nvSpPr>
        <p:spPr/>
        <p:txBody>
          <a:bodyPr/>
          <a:lstStyle/>
          <a:p>
            <a:r>
              <a:rPr lang="en-US" sz="3200" b="1" i="1" dirty="0"/>
              <a:t>Evaluation of CA and LSA based on MAP</a:t>
            </a:r>
            <a:br>
              <a:rPr lang="en-US" dirty="0">
                <a:effectLst/>
              </a:rPr>
            </a:br>
            <a:endParaRPr lang="en-US" dirty="0"/>
          </a:p>
        </p:txBody>
      </p:sp>
      <p:graphicFrame>
        <p:nvGraphicFramePr>
          <p:cNvPr id="4" name="Content Placeholder 3">
            <a:extLst>
              <a:ext uri="{FF2B5EF4-FFF2-40B4-BE49-F238E27FC236}">
                <a16:creationId xmlns:a16="http://schemas.microsoft.com/office/drawing/2014/main" id="{A2D1AADB-0360-B8FF-96BA-AEBE61D2B456}"/>
              </a:ext>
            </a:extLst>
          </p:cNvPr>
          <p:cNvGraphicFramePr>
            <a:graphicFrameLocks noGrp="1"/>
          </p:cNvGraphicFramePr>
          <p:nvPr>
            <p:ph idx="1"/>
            <p:extLst>
              <p:ext uri="{D42A27DB-BD31-4B8C-83A1-F6EECF244321}">
                <p14:modId xmlns:p14="http://schemas.microsoft.com/office/powerpoint/2010/main" val="2117863660"/>
              </p:ext>
            </p:extLst>
          </p:nvPr>
        </p:nvGraphicFramePr>
        <p:xfrm>
          <a:off x="212609" y="1376425"/>
          <a:ext cx="5777754" cy="3117580"/>
        </p:xfrm>
        <a:graphic>
          <a:graphicData uri="http://schemas.openxmlformats.org/drawingml/2006/table">
            <a:tbl>
              <a:tblPr/>
              <a:tblGrid>
                <a:gridCol w="1925918">
                  <a:extLst>
                    <a:ext uri="{9D8B030D-6E8A-4147-A177-3AD203B41FA5}">
                      <a16:colId xmlns:a16="http://schemas.microsoft.com/office/drawing/2014/main" val="628798783"/>
                    </a:ext>
                  </a:extLst>
                </a:gridCol>
                <a:gridCol w="1925918">
                  <a:extLst>
                    <a:ext uri="{9D8B030D-6E8A-4147-A177-3AD203B41FA5}">
                      <a16:colId xmlns:a16="http://schemas.microsoft.com/office/drawing/2014/main" val="2950725462"/>
                    </a:ext>
                  </a:extLst>
                </a:gridCol>
                <a:gridCol w="1925918">
                  <a:extLst>
                    <a:ext uri="{9D8B030D-6E8A-4147-A177-3AD203B41FA5}">
                      <a16:colId xmlns:a16="http://schemas.microsoft.com/office/drawing/2014/main" val="3266616590"/>
                    </a:ext>
                  </a:extLst>
                </a:gridCol>
              </a:tblGrid>
              <a:tr h="779395">
                <a:tc>
                  <a:txBody>
                    <a:bodyPr/>
                    <a:lstStyle/>
                    <a:p>
                      <a:pPr algn="l" rtl="0">
                        <a:buNone/>
                      </a:pPr>
                      <a:r>
                        <a:rPr lang="en-US" b="1" i="0">
                          <a:solidFill>
                            <a:srgbClr val="000000"/>
                          </a:solidFill>
                          <a:effectLst/>
                        </a:rPr>
                        <a:t>k</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MAP_LSA</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MAP_CA</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221447"/>
                  </a:ext>
                </a:extLst>
              </a:tr>
              <a:tr h="779395">
                <a:tc>
                  <a:txBody>
                    <a:bodyPr/>
                    <a:lstStyle/>
                    <a:p>
                      <a:pPr algn="l" rtl="0">
                        <a:buNone/>
                      </a:pPr>
                      <a:r>
                        <a:rPr lang="en-US" b="0" i="0">
                          <a:solidFill>
                            <a:srgbClr val="000000"/>
                          </a:solidFill>
                          <a:effectLst/>
                        </a:rPr>
                        <a:t>4</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0.371</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0.640</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0863973"/>
                  </a:ext>
                </a:extLst>
              </a:tr>
              <a:tr h="779395">
                <a:tc>
                  <a:txBody>
                    <a:bodyPr/>
                    <a:lstStyle/>
                    <a:p>
                      <a:pPr algn="l" rtl="0">
                        <a:buNone/>
                      </a:pPr>
                      <a:r>
                        <a:rPr lang="en-US" b="0" i="0">
                          <a:solidFill>
                            <a:srgbClr val="000000"/>
                          </a:solidFill>
                          <a:effectLst/>
                        </a:rPr>
                        <a:t>6</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0.349</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0.420</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4480628"/>
                  </a:ext>
                </a:extLst>
              </a:tr>
              <a:tr h="779395">
                <a:tc>
                  <a:txBody>
                    <a:bodyPr/>
                    <a:lstStyle/>
                    <a:p>
                      <a:pPr algn="l" rtl="0">
                        <a:buNone/>
                      </a:pPr>
                      <a:r>
                        <a:rPr lang="en-US" b="0" i="0">
                          <a:solidFill>
                            <a:srgbClr val="000000"/>
                          </a:solidFill>
                          <a:effectLst/>
                        </a:rPr>
                        <a:t>10</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0.279</a:t>
                      </a:r>
                      <a:endParaRPr lang="en-US">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0.380</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2667467"/>
                  </a:ext>
                </a:extLst>
              </a:tr>
            </a:tbl>
          </a:graphicData>
        </a:graphic>
      </p:graphicFrame>
      <p:sp>
        <p:nvSpPr>
          <p:cNvPr id="5" name="Rectangle 1">
            <a:extLst>
              <a:ext uri="{FF2B5EF4-FFF2-40B4-BE49-F238E27FC236}">
                <a16:creationId xmlns:a16="http://schemas.microsoft.com/office/drawing/2014/main" id="{15B6566C-D301-8B94-B55D-CB1D552E5089}"/>
              </a:ext>
            </a:extLst>
          </p:cNvPr>
          <p:cNvSpPr>
            <a:spLocks noChangeArrowheads="1"/>
          </p:cNvSpPr>
          <p:nvPr/>
        </p:nvSpPr>
        <p:spPr bwMode="auto">
          <a:xfrm>
            <a:off x="-688489" y="-1893347"/>
            <a:ext cx="673626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7" name="Picture 6" descr="A graph of a graph&#10;&#10;AI-generated content may be incorrect.">
            <a:extLst>
              <a:ext uri="{FF2B5EF4-FFF2-40B4-BE49-F238E27FC236}">
                <a16:creationId xmlns:a16="http://schemas.microsoft.com/office/drawing/2014/main" id="{368C28BA-C962-E198-B82D-A026091F3B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7773" y="1060624"/>
            <a:ext cx="5248617" cy="4063446"/>
          </a:xfrm>
          <a:prstGeom prst="rect">
            <a:avLst/>
          </a:prstGeom>
        </p:spPr>
      </p:pic>
    </p:spTree>
    <p:extLst>
      <p:ext uri="{BB962C8B-B14F-4D97-AF65-F5344CB8AC3E}">
        <p14:creationId xmlns:p14="http://schemas.microsoft.com/office/powerpoint/2010/main" val="918255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DC6ACD-F6E2-64C6-6C0D-632451F2D482}"/>
              </a:ext>
            </a:extLst>
          </p:cNvPr>
          <p:cNvSpPr>
            <a:spLocks noGrp="1"/>
          </p:cNvSpPr>
          <p:nvPr>
            <p:ph type="title"/>
          </p:nvPr>
        </p:nvSpPr>
        <p:spPr>
          <a:xfrm>
            <a:off x="326563" y="192064"/>
            <a:ext cx="3571810" cy="3573516"/>
          </a:xfrm>
        </p:spPr>
        <p:txBody>
          <a:bodyPr vert="horz" lIns="91440" tIns="45720" rIns="91440" bIns="45720" rtlCol="0" anchor="b">
            <a:normAutofit/>
          </a:bodyPr>
          <a:lstStyle/>
          <a:p>
            <a:r>
              <a:rPr lang="en-US" sz="3600" b="1" i="1" kern="1200" dirty="0">
                <a:solidFill>
                  <a:schemeClr val="tx1"/>
                </a:solidFill>
                <a:latin typeface="+mj-lt"/>
                <a:ea typeface="+mj-ea"/>
                <a:cs typeface="+mj-cs"/>
              </a:rPr>
              <a:t>Weighting components of our LSA in order to improve the MAP</a:t>
            </a:r>
            <a:br>
              <a:rPr lang="en-US" sz="3600" kern="1200" dirty="0">
                <a:solidFill>
                  <a:schemeClr val="tx1"/>
                </a:solidFill>
                <a:effectLst/>
                <a:latin typeface="+mj-lt"/>
                <a:ea typeface="+mj-ea"/>
                <a:cs typeface="+mj-cs"/>
              </a:rPr>
            </a:br>
            <a:endParaRPr lang="en-US" sz="3600" kern="1200" dirty="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B5215092-0CA5-BB8C-424B-0E8003A7AC7E}"/>
              </a:ext>
            </a:extLst>
          </p:cNvPr>
          <p:cNvGraphicFramePr>
            <a:graphicFrameLocks noGrp="1"/>
          </p:cNvGraphicFramePr>
          <p:nvPr>
            <p:ph idx="1"/>
            <p:extLst>
              <p:ext uri="{D42A27DB-BD31-4B8C-83A1-F6EECF244321}">
                <p14:modId xmlns:p14="http://schemas.microsoft.com/office/powerpoint/2010/main" val="1247675327"/>
              </p:ext>
            </p:extLst>
          </p:nvPr>
        </p:nvGraphicFramePr>
        <p:xfrm>
          <a:off x="5088367" y="640080"/>
          <a:ext cx="6938682" cy="4825000"/>
        </p:xfrm>
        <a:graphic>
          <a:graphicData uri="http://schemas.openxmlformats.org/drawingml/2006/table">
            <a:tbl>
              <a:tblPr firstRow="1" bandRow="1">
                <a:tableStyleId>{8799B23B-EC83-4686-B30A-512413B5E67A}</a:tableStyleId>
              </a:tblPr>
              <a:tblGrid>
                <a:gridCol w="1799969">
                  <a:extLst>
                    <a:ext uri="{9D8B030D-6E8A-4147-A177-3AD203B41FA5}">
                      <a16:colId xmlns:a16="http://schemas.microsoft.com/office/drawing/2014/main" val="2772815309"/>
                    </a:ext>
                  </a:extLst>
                </a:gridCol>
                <a:gridCol w="5138713">
                  <a:extLst>
                    <a:ext uri="{9D8B030D-6E8A-4147-A177-3AD203B41FA5}">
                      <a16:colId xmlns:a16="http://schemas.microsoft.com/office/drawing/2014/main" val="3830065841"/>
                    </a:ext>
                  </a:extLst>
                </a:gridCol>
              </a:tblGrid>
              <a:tr h="151952">
                <a:tc>
                  <a:txBody>
                    <a:bodyPr/>
                    <a:lstStyle/>
                    <a:p>
                      <a:pPr algn="l" rtl="0">
                        <a:buNone/>
                      </a:pPr>
                      <a:r>
                        <a:rPr lang="el-GR" sz="1200" b="1">
                          <a:solidFill>
                            <a:srgbClr val="191919"/>
                          </a:solidFill>
                          <a:effectLst/>
                        </a:rPr>
                        <a:t>α</a:t>
                      </a:r>
                      <a:endParaRPr lang="el-GR" sz="1200">
                        <a:effectLst/>
                      </a:endParaRPr>
                    </a:p>
                  </a:txBody>
                  <a:tcPr marL="58370" marR="58370" marT="29185" marB="29185" anchor="ctr"/>
                </a:tc>
                <a:tc>
                  <a:txBody>
                    <a:bodyPr/>
                    <a:lstStyle/>
                    <a:p>
                      <a:pPr algn="l" rtl="0">
                        <a:buNone/>
                      </a:pPr>
                      <a:r>
                        <a:rPr lang="en-US" sz="1200" b="1">
                          <a:solidFill>
                            <a:srgbClr val="191919"/>
                          </a:solidFill>
                          <a:effectLst/>
                        </a:rPr>
                        <a:t>MAP (LSA-RAW)</a:t>
                      </a:r>
                      <a:endParaRPr lang="en-US" sz="1200">
                        <a:effectLst/>
                      </a:endParaRPr>
                    </a:p>
                  </a:txBody>
                  <a:tcPr marL="58370" marR="58370" marT="29185" marB="29185" anchor="ctr"/>
                </a:tc>
                <a:extLst>
                  <a:ext uri="{0D108BD9-81ED-4DB2-BD59-A6C34878D82A}">
                    <a16:rowId xmlns:a16="http://schemas.microsoft.com/office/drawing/2014/main" val="2908004167"/>
                  </a:ext>
                </a:extLst>
              </a:tr>
              <a:tr h="151952">
                <a:tc>
                  <a:txBody>
                    <a:bodyPr/>
                    <a:lstStyle/>
                    <a:p>
                      <a:pPr algn="l" rtl="0">
                        <a:buNone/>
                      </a:pPr>
                      <a:r>
                        <a:rPr lang="en-US" sz="1200" b="0">
                          <a:solidFill>
                            <a:srgbClr val="191919"/>
                          </a:solidFill>
                          <a:effectLst/>
                        </a:rPr>
                        <a:t>0.1</a:t>
                      </a:r>
                      <a:endParaRPr lang="en-US" sz="1200">
                        <a:effectLst/>
                      </a:endParaRPr>
                    </a:p>
                  </a:txBody>
                  <a:tcPr marL="58370" marR="58370" marT="29185" marB="29185" anchor="ctr"/>
                </a:tc>
                <a:tc>
                  <a:txBody>
                    <a:bodyPr/>
                    <a:lstStyle/>
                    <a:p>
                      <a:pPr algn="l" rtl="0">
                        <a:buNone/>
                      </a:pPr>
                      <a:r>
                        <a:rPr lang="en-US" sz="1200" b="0">
                          <a:solidFill>
                            <a:srgbClr val="191919"/>
                          </a:solidFill>
                          <a:effectLst/>
                        </a:rPr>
                        <a:t>0.408</a:t>
                      </a:r>
                      <a:endParaRPr lang="en-US" sz="1200">
                        <a:effectLst/>
                      </a:endParaRPr>
                    </a:p>
                  </a:txBody>
                  <a:tcPr marL="58370" marR="58370" marT="29185" marB="29185" anchor="ctr"/>
                </a:tc>
                <a:extLst>
                  <a:ext uri="{0D108BD9-81ED-4DB2-BD59-A6C34878D82A}">
                    <a16:rowId xmlns:a16="http://schemas.microsoft.com/office/drawing/2014/main" val="644793311"/>
                  </a:ext>
                </a:extLst>
              </a:tr>
              <a:tr h="151952">
                <a:tc>
                  <a:txBody>
                    <a:bodyPr/>
                    <a:lstStyle/>
                    <a:p>
                      <a:pPr algn="l" rtl="0">
                        <a:buNone/>
                      </a:pPr>
                      <a:r>
                        <a:rPr lang="en-US" sz="1200" b="0">
                          <a:solidFill>
                            <a:srgbClr val="191919"/>
                          </a:solidFill>
                          <a:effectLst/>
                        </a:rPr>
                        <a:t>0.2</a:t>
                      </a:r>
                      <a:endParaRPr lang="en-US" sz="1200">
                        <a:effectLst/>
                      </a:endParaRPr>
                    </a:p>
                  </a:txBody>
                  <a:tcPr marL="58370" marR="58370" marT="29185" marB="29185" anchor="ctr"/>
                </a:tc>
                <a:tc>
                  <a:txBody>
                    <a:bodyPr/>
                    <a:lstStyle/>
                    <a:p>
                      <a:pPr algn="l" rtl="0">
                        <a:buNone/>
                      </a:pPr>
                      <a:r>
                        <a:rPr lang="en-US" sz="1200" b="0">
                          <a:solidFill>
                            <a:srgbClr val="191919"/>
                          </a:solidFill>
                          <a:effectLst/>
                        </a:rPr>
                        <a:t>0.407</a:t>
                      </a:r>
                      <a:endParaRPr lang="en-US" sz="1200">
                        <a:effectLst/>
                      </a:endParaRPr>
                    </a:p>
                  </a:txBody>
                  <a:tcPr marL="58370" marR="58370" marT="29185" marB="29185" anchor="ctr"/>
                </a:tc>
                <a:extLst>
                  <a:ext uri="{0D108BD9-81ED-4DB2-BD59-A6C34878D82A}">
                    <a16:rowId xmlns:a16="http://schemas.microsoft.com/office/drawing/2014/main" val="2068077578"/>
                  </a:ext>
                </a:extLst>
              </a:tr>
              <a:tr h="151952">
                <a:tc>
                  <a:txBody>
                    <a:bodyPr/>
                    <a:lstStyle/>
                    <a:p>
                      <a:pPr algn="l" rtl="0">
                        <a:buNone/>
                      </a:pPr>
                      <a:r>
                        <a:rPr lang="en-US" sz="1200" b="0">
                          <a:solidFill>
                            <a:srgbClr val="191919"/>
                          </a:solidFill>
                          <a:effectLst/>
                        </a:rPr>
                        <a:t>0.3</a:t>
                      </a:r>
                      <a:endParaRPr lang="en-US" sz="1200">
                        <a:effectLst/>
                      </a:endParaRPr>
                    </a:p>
                  </a:txBody>
                  <a:tcPr marL="58370" marR="58370" marT="29185" marB="29185" anchor="ctr"/>
                </a:tc>
                <a:tc>
                  <a:txBody>
                    <a:bodyPr/>
                    <a:lstStyle/>
                    <a:p>
                      <a:pPr algn="l" rtl="0">
                        <a:buNone/>
                      </a:pPr>
                      <a:r>
                        <a:rPr lang="en-US" sz="1200" b="0">
                          <a:solidFill>
                            <a:srgbClr val="191919"/>
                          </a:solidFill>
                          <a:effectLst/>
                        </a:rPr>
                        <a:t>0.407</a:t>
                      </a:r>
                      <a:endParaRPr lang="en-US" sz="1200">
                        <a:effectLst/>
                      </a:endParaRPr>
                    </a:p>
                  </a:txBody>
                  <a:tcPr marL="58370" marR="58370" marT="29185" marB="29185" anchor="ctr"/>
                </a:tc>
                <a:extLst>
                  <a:ext uri="{0D108BD9-81ED-4DB2-BD59-A6C34878D82A}">
                    <a16:rowId xmlns:a16="http://schemas.microsoft.com/office/drawing/2014/main" val="3357415385"/>
                  </a:ext>
                </a:extLst>
              </a:tr>
              <a:tr h="151952">
                <a:tc>
                  <a:txBody>
                    <a:bodyPr/>
                    <a:lstStyle/>
                    <a:p>
                      <a:pPr algn="l" rtl="0">
                        <a:buNone/>
                      </a:pPr>
                      <a:r>
                        <a:rPr lang="en-US" sz="1200" b="0">
                          <a:solidFill>
                            <a:srgbClr val="191919"/>
                          </a:solidFill>
                          <a:effectLst/>
                        </a:rPr>
                        <a:t>0.4</a:t>
                      </a:r>
                      <a:endParaRPr lang="en-US" sz="1200">
                        <a:effectLst/>
                      </a:endParaRPr>
                    </a:p>
                  </a:txBody>
                  <a:tcPr marL="58370" marR="58370" marT="29185" marB="29185" anchor="ctr"/>
                </a:tc>
                <a:tc>
                  <a:txBody>
                    <a:bodyPr/>
                    <a:lstStyle/>
                    <a:p>
                      <a:pPr algn="l" rtl="0">
                        <a:buNone/>
                      </a:pPr>
                      <a:r>
                        <a:rPr lang="en-US" sz="1200" b="0">
                          <a:solidFill>
                            <a:srgbClr val="191919"/>
                          </a:solidFill>
                          <a:effectLst/>
                        </a:rPr>
                        <a:t>0.406</a:t>
                      </a:r>
                      <a:endParaRPr lang="en-US" sz="1200">
                        <a:effectLst/>
                      </a:endParaRPr>
                    </a:p>
                  </a:txBody>
                  <a:tcPr marL="58370" marR="58370" marT="29185" marB="29185" anchor="ctr"/>
                </a:tc>
                <a:extLst>
                  <a:ext uri="{0D108BD9-81ED-4DB2-BD59-A6C34878D82A}">
                    <a16:rowId xmlns:a16="http://schemas.microsoft.com/office/drawing/2014/main" val="1286725370"/>
                  </a:ext>
                </a:extLst>
              </a:tr>
              <a:tr h="151952">
                <a:tc>
                  <a:txBody>
                    <a:bodyPr/>
                    <a:lstStyle/>
                    <a:p>
                      <a:pPr algn="l" rtl="0">
                        <a:buNone/>
                      </a:pPr>
                      <a:r>
                        <a:rPr lang="en-US" sz="1200" b="0">
                          <a:solidFill>
                            <a:srgbClr val="191919"/>
                          </a:solidFill>
                          <a:effectLst/>
                        </a:rPr>
                        <a:t>0.5</a:t>
                      </a:r>
                      <a:endParaRPr lang="en-US" sz="1200">
                        <a:effectLst/>
                      </a:endParaRPr>
                    </a:p>
                  </a:txBody>
                  <a:tcPr marL="58370" marR="58370" marT="29185" marB="29185" anchor="ctr"/>
                </a:tc>
                <a:tc>
                  <a:txBody>
                    <a:bodyPr/>
                    <a:lstStyle/>
                    <a:p>
                      <a:pPr algn="l" rtl="0">
                        <a:buNone/>
                      </a:pPr>
                      <a:r>
                        <a:rPr lang="en-US" sz="1200" b="0">
                          <a:solidFill>
                            <a:srgbClr val="191919"/>
                          </a:solidFill>
                          <a:effectLst/>
                        </a:rPr>
                        <a:t>0.405</a:t>
                      </a:r>
                      <a:endParaRPr lang="en-US" sz="1200">
                        <a:effectLst/>
                      </a:endParaRPr>
                    </a:p>
                  </a:txBody>
                  <a:tcPr marL="58370" marR="58370" marT="29185" marB="29185" anchor="ctr"/>
                </a:tc>
                <a:extLst>
                  <a:ext uri="{0D108BD9-81ED-4DB2-BD59-A6C34878D82A}">
                    <a16:rowId xmlns:a16="http://schemas.microsoft.com/office/drawing/2014/main" val="1363614791"/>
                  </a:ext>
                </a:extLst>
              </a:tr>
              <a:tr h="151952">
                <a:tc>
                  <a:txBody>
                    <a:bodyPr/>
                    <a:lstStyle/>
                    <a:p>
                      <a:pPr algn="l" rtl="0">
                        <a:buNone/>
                      </a:pPr>
                      <a:r>
                        <a:rPr lang="en-US" sz="1200" b="0">
                          <a:solidFill>
                            <a:srgbClr val="191919"/>
                          </a:solidFill>
                          <a:effectLst/>
                        </a:rPr>
                        <a:t>0.6</a:t>
                      </a:r>
                      <a:endParaRPr lang="en-US" sz="1200">
                        <a:effectLst/>
                      </a:endParaRPr>
                    </a:p>
                  </a:txBody>
                  <a:tcPr marL="58370" marR="58370" marT="29185" marB="29185" anchor="ctr"/>
                </a:tc>
                <a:tc>
                  <a:txBody>
                    <a:bodyPr/>
                    <a:lstStyle/>
                    <a:p>
                      <a:pPr algn="l" rtl="0">
                        <a:buNone/>
                      </a:pPr>
                      <a:r>
                        <a:rPr lang="en-US" sz="1200" b="0">
                          <a:solidFill>
                            <a:srgbClr val="191919"/>
                          </a:solidFill>
                          <a:effectLst/>
                        </a:rPr>
                        <a:t>0.404</a:t>
                      </a:r>
                      <a:endParaRPr lang="en-US" sz="1200">
                        <a:effectLst/>
                      </a:endParaRPr>
                    </a:p>
                  </a:txBody>
                  <a:tcPr marL="58370" marR="58370" marT="29185" marB="29185" anchor="ctr"/>
                </a:tc>
                <a:extLst>
                  <a:ext uri="{0D108BD9-81ED-4DB2-BD59-A6C34878D82A}">
                    <a16:rowId xmlns:a16="http://schemas.microsoft.com/office/drawing/2014/main" val="2792685265"/>
                  </a:ext>
                </a:extLst>
              </a:tr>
              <a:tr h="151952">
                <a:tc>
                  <a:txBody>
                    <a:bodyPr/>
                    <a:lstStyle/>
                    <a:p>
                      <a:pPr algn="l" rtl="0">
                        <a:buNone/>
                      </a:pPr>
                      <a:r>
                        <a:rPr lang="en-US" sz="1200" b="0">
                          <a:solidFill>
                            <a:srgbClr val="191919"/>
                          </a:solidFill>
                          <a:effectLst/>
                        </a:rPr>
                        <a:t>0.7</a:t>
                      </a:r>
                      <a:endParaRPr lang="en-US" sz="1200">
                        <a:effectLst/>
                      </a:endParaRPr>
                    </a:p>
                  </a:txBody>
                  <a:tcPr marL="58370" marR="58370" marT="29185" marB="29185" anchor="ctr"/>
                </a:tc>
                <a:tc>
                  <a:txBody>
                    <a:bodyPr/>
                    <a:lstStyle/>
                    <a:p>
                      <a:pPr algn="l" rtl="0">
                        <a:buNone/>
                      </a:pPr>
                      <a:r>
                        <a:rPr lang="en-US" sz="1200" b="0">
                          <a:solidFill>
                            <a:srgbClr val="191919"/>
                          </a:solidFill>
                          <a:effectLst/>
                        </a:rPr>
                        <a:t>0.403</a:t>
                      </a:r>
                      <a:endParaRPr lang="en-US" sz="1200">
                        <a:effectLst/>
                      </a:endParaRPr>
                    </a:p>
                  </a:txBody>
                  <a:tcPr marL="58370" marR="58370" marT="29185" marB="29185" anchor="ctr"/>
                </a:tc>
                <a:extLst>
                  <a:ext uri="{0D108BD9-81ED-4DB2-BD59-A6C34878D82A}">
                    <a16:rowId xmlns:a16="http://schemas.microsoft.com/office/drawing/2014/main" val="712373868"/>
                  </a:ext>
                </a:extLst>
              </a:tr>
              <a:tr h="151952">
                <a:tc>
                  <a:txBody>
                    <a:bodyPr/>
                    <a:lstStyle/>
                    <a:p>
                      <a:pPr algn="l" rtl="0">
                        <a:buNone/>
                      </a:pPr>
                      <a:r>
                        <a:rPr lang="en-US" sz="1200" b="0">
                          <a:solidFill>
                            <a:srgbClr val="191919"/>
                          </a:solidFill>
                          <a:effectLst/>
                        </a:rPr>
                        <a:t>0.8</a:t>
                      </a:r>
                      <a:endParaRPr lang="en-US" sz="1200">
                        <a:effectLst/>
                      </a:endParaRPr>
                    </a:p>
                  </a:txBody>
                  <a:tcPr marL="58370" marR="58370" marT="29185" marB="29185" anchor="ctr"/>
                </a:tc>
                <a:tc>
                  <a:txBody>
                    <a:bodyPr/>
                    <a:lstStyle/>
                    <a:p>
                      <a:pPr algn="l" rtl="0">
                        <a:buNone/>
                      </a:pPr>
                      <a:r>
                        <a:rPr lang="en-US" sz="1200" b="0">
                          <a:solidFill>
                            <a:srgbClr val="191919"/>
                          </a:solidFill>
                          <a:effectLst/>
                        </a:rPr>
                        <a:t>0.402</a:t>
                      </a:r>
                      <a:endParaRPr lang="en-US" sz="1200">
                        <a:effectLst/>
                      </a:endParaRPr>
                    </a:p>
                  </a:txBody>
                  <a:tcPr marL="58370" marR="58370" marT="29185" marB="29185" anchor="ctr"/>
                </a:tc>
                <a:extLst>
                  <a:ext uri="{0D108BD9-81ED-4DB2-BD59-A6C34878D82A}">
                    <a16:rowId xmlns:a16="http://schemas.microsoft.com/office/drawing/2014/main" val="551185839"/>
                  </a:ext>
                </a:extLst>
              </a:tr>
              <a:tr h="151952">
                <a:tc>
                  <a:txBody>
                    <a:bodyPr/>
                    <a:lstStyle/>
                    <a:p>
                      <a:pPr algn="l" rtl="0">
                        <a:buNone/>
                      </a:pPr>
                      <a:r>
                        <a:rPr lang="en-US" sz="1200" b="0">
                          <a:solidFill>
                            <a:srgbClr val="191919"/>
                          </a:solidFill>
                          <a:effectLst/>
                        </a:rPr>
                        <a:t>0.9</a:t>
                      </a:r>
                      <a:endParaRPr lang="en-US" sz="1200">
                        <a:effectLst/>
                      </a:endParaRPr>
                    </a:p>
                  </a:txBody>
                  <a:tcPr marL="58370" marR="58370" marT="29185" marB="29185" anchor="ctr"/>
                </a:tc>
                <a:tc>
                  <a:txBody>
                    <a:bodyPr/>
                    <a:lstStyle/>
                    <a:p>
                      <a:pPr algn="l" rtl="0">
                        <a:buNone/>
                      </a:pPr>
                      <a:r>
                        <a:rPr lang="en-US" sz="1200" b="0">
                          <a:solidFill>
                            <a:srgbClr val="191919"/>
                          </a:solidFill>
                          <a:effectLst/>
                        </a:rPr>
                        <a:t>0.400</a:t>
                      </a:r>
                      <a:endParaRPr lang="en-US" sz="1200">
                        <a:effectLst/>
                      </a:endParaRPr>
                    </a:p>
                  </a:txBody>
                  <a:tcPr marL="58370" marR="58370" marT="29185" marB="29185" anchor="ctr"/>
                </a:tc>
                <a:extLst>
                  <a:ext uri="{0D108BD9-81ED-4DB2-BD59-A6C34878D82A}">
                    <a16:rowId xmlns:a16="http://schemas.microsoft.com/office/drawing/2014/main" val="1655576830"/>
                  </a:ext>
                </a:extLst>
              </a:tr>
              <a:tr h="151952">
                <a:tc>
                  <a:txBody>
                    <a:bodyPr/>
                    <a:lstStyle/>
                    <a:p>
                      <a:pPr algn="l" rtl="0">
                        <a:buNone/>
                      </a:pPr>
                      <a:r>
                        <a:rPr lang="en-US" sz="1200" b="0">
                          <a:solidFill>
                            <a:srgbClr val="191919"/>
                          </a:solidFill>
                          <a:effectLst/>
                        </a:rPr>
                        <a:t>1.0</a:t>
                      </a:r>
                      <a:endParaRPr lang="en-US" sz="1200">
                        <a:effectLst/>
                      </a:endParaRPr>
                    </a:p>
                  </a:txBody>
                  <a:tcPr marL="58370" marR="58370" marT="29185" marB="29185" anchor="ctr"/>
                </a:tc>
                <a:tc>
                  <a:txBody>
                    <a:bodyPr/>
                    <a:lstStyle/>
                    <a:p>
                      <a:pPr algn="l" rtl="0">
                        <a:buNone/>
                      </a:pPr>
                      <a:r>
                        <a:rPr lang="en-US" sz="1200" b="0">
                          <a:solidFill>
                            <a:srgbClr val="191919"/>
                          </a:solidFill>
                          <a:effectLst/>
                        </a:rPr>
                        <a:t>0.398</a:t>
                      </a:r>
                      <a:endParaRPr lang="en-US" sz="1200">
                        <a:effectLst/>
                      </a:endParaRPr>
                    </a:p>
                  </a:txBody>
                  <a:tcPr marL="58370" marR="58370" marT="29185" marB="29185" anchor="ctr"/>
                </a:tc>
                <a:extLst>
                  <a:ext uri="{0D108BD9-81ED-4DB2-BD59-A6C34878D82A}">
                    <a16:rowId xmlns:a16="http://schemas.microsoft.com/office/drawing/2014/main" val="3733797926"/>
                  </a:ext>
                </a:extLst>
              </a:tr>
              <a:tr h="151952">
                <a:tc>
                  <a:txBody>
                    <a:bodyPr/>
                    <a:lstStyle/>
                    <a:p>
                      <a:pPr algn="l" rtl="0">
                        <a:buNone/>
                      </a:pPr>
                      <a:r>
                        <a:rPr lang="en-US" sz="1200" b="0">
                          <a:solidFill>
                            <a:srgbClr val="191919"/>
                          </a:solidFill>
                          <a:effectLst/>
                        </a:rPr>
                        <a:t>1.1</a:t>
                      </a:r>
                      <a:endParaRPr lang="en-US" sz="1200">
                        <a:effectLst/>
                      </a:endParaRPr>
                    </a:p>
                  </a:txBody>
                  <a:tcPr marL="58370" marR="58370" marT="29185" marB="29185" anchor="ctr"/>
                </a:tc>
                <a:tc>
                  <a:txBody>
                    <a:bodyPr/>
                    <a:lstStyle/>
                    <a:p>
                      <a:pPr algn="l" rtl="0">
                        <a:buNone/>
                      </a:pPr>
                      <a:r>
                        <a:rPr lang="en-US" sz="1200" b="0">
                          <a:solidFill>
                            <a:srgbClr val="191919"/>
                          </a:solidFill>
                          <a:effectLst/>
                        </a:rPr>
                        <a:t>0.396</a:t>
                      </a:r>
                      <a:endParaRPr lang="en-US" sz="1200">
                        <a:effectLst/>
                      </a:endParaRPr>
                    </a:p>
                  </a:txBody>
                  <a:tcPr marL="58370" marR="58370" marT="29185" marB="29185" anchor="ctr"/>
                </a:tc>
                <a:extLst>
                  <a:ext uri="{0D108BD9-81ED-4DB2-BD59-A6C34878D82A}">
                    <a16:rowId xmlns:a16="http://schemas.microsoft.com/office/drawing/2014/main" val="1999092888"/>
                  </a:ext>
                </a:extLst>
              </a:tr>
              <a:tr h="151952">
                <a:tc>
                  <a:txBody>
                    <a:bodyPr/>
                    <a:lstStyle/>
                    <a:p>
                      <a:pPr algn="l" rtl="0">
                        <a:buNone/>
                      </a:pPr>
                      <a:r>
                        <a:rPr lang="en-US" sz="1200" b="0">
                          <a:solidFill>
                            <a:srgbClr val="191919"/>
                          </a:solidFill>
                          <a:effectLst/>
                        </a:rPr>
                        <a:t>1.2</a:t>
                      </a:r>
                      <a:endParaRPr lang="en-US" sz="1200">
                        <a:effectLst/>
                      </a:endParaRPr>
                    </a:p>
                  </a:txBody>
                  <a:tcPr marL="58370" marR="58370" marT="29185" marB="29185" anchor="ctr"/>
                </a:tc>
                <a:tc>
                  <a:txBody>
                    <a:bodyPr/>
                    <a:lstStyle/>
                    <a:p>
                      <a:pPr algn="l" rtl="0">
                        <a:buNone/>
                      </a:pPr>
                      <a:r>
                        <a:rPr lang="en-US" sz="1200" b="0">
                          <a:solidFill>
                            <a:srgbClr val="191919"/>
                          </a:solidFill>
                          <a:effectLst/>
                        </a:rPr>
                        <a:t>0.394</a:t>
                      </a:r>
                      <a:endParaRPr lang="en-US" sz="1200">
                        <a:effectLst/>
                      </a:endParaRPr>
                    </a:p>
                  </a:txBody>
                  <a:tcPr marL="58370" marR="58370" marT="29185" marB="29185" anchor="ctr"/>
                </a:tc>
                <a:extLst>
                  <a:ext uri="{0D108BD9-81ED-4DB2-BD59-A6C34878D82A}">
                    <a16:rowId xmlns:a16="http://schemas.microsoft.com/office/drawing/2014/main" val="3382587210"/>
                  </a:ext>
                </a:extLst>
              </a:tr>
              <a:tr h="151952">
                <a:tc>
                  <a:txBody>
                    <a:bodyPr/>
                    <a:lstStyle/>
                    <a:p>
                      <a:pPr algn="l" rtl="0">
                        <a:buNone/>
                      </a:pPr>
                      <a:r>
                        <a:rPr lang="en-US" sz="1200" b="0">
                          <a:solidFill>
                            <a:srgbClr val="191919"/>
                          </a:solidFill>
                          <a:effectLst/>
                        </a:rPr>
                        <a:t>1.3</a:t>
                      </a:r>
                      <a:endParaRPr lang="en-US" sz="1200">
                        <a:effectLst/>
                      </a:endParaRPr>
                    </a:p>
                  </a:txBody>
                  <a:tcPr marL="58370" marR="58370" marT="29185" marB="29185" anchor="ctr"/>
                </a:tc>
                <a:tc>
                  <a:txBody>
                    <a:bodyPr/>
                    <a:lstStyle/>
                    <a:p>
                      <a:pPr algn="l" rtl="0">
                        <a:buNone/>
                      </a:pPr>
                      <a:r>
                        <a:rPr lang="en-US" sz="1200" b="0">
                          <a:solidFill>
                            <a:srgbClr val="191919"/>
                          </a:solidFill>
                          <a:effectLst/>
                        </a:rPr>
                        <a:t>0.391</a:t>
                      </a:r>
                      <a:endParaRPr lang="en-US" sz="1200">
                        <a:effectLst/>
                      </a:endParaRPr>
                    </a:p>
                  </a:txBody>
                  <a:tcPr marL="58370" marR="58370" marT="29185" marB="29185" anchor="ctr"/>
                </a:tc>
                <a:extLst>
                  <a:ext uri="{0D108BD9-81ED-4DB2-BD59-A6C34878D82A}">
                    <a16:rowId xmlns:a16="http://schemas.microsoft.com/office/drawing/2014/main" val="3872019757"/>
                  </a:ext>
                </a:extLst>
              </a:tr>
              <a:tr h="151952">
                <a:tc>
                  <a:txBody>
                    <a:bodyPr/>
                    <a:lstStyle/>
                    <a:p>
                      <a:pPr algn="l" rtl="0">
                        <a:buNone/>
                      </a:pPr>
                      <a:r>
                        <a:rPr lang="en-US" sz="1200" b="0">
                          <a:solidFill>
                            <a:srgbClr val="191919"/>
                          </a:solidFill>
                          <a:effectLst/>
                        </a:rPr>
                        <a:t>1.4</a:t>
                      </a:r>
                      <a:endParaRPr lang="en-US" sz="1200">
                        <a:effectLst/>
                      </a:endParaRPr>
                    </a:p>
                  </a:txBody>
                  <a:tcPr marL="58370" marR="58370" marT="29185" marB="29185" anchor="ctr"/>
                </a:tc>
                <a:tc>
                  <a:txBody>
                    <a:bodyPr/>
                    <a:lstStyle/>
                    <a:p>
                      <a:pPr algn="l" rtl="0">
                        <a:buNone/>
                      </a:pPr>
                      <a:r>
                        <a:rPr lang="en-US" sz="1200" b="0">
                          <a:solidFill>
                            <a:srgbClr val="191919"/>
                          </a:solidFill>
                          <a:effectLst/>
                        </a:rPr>
                        <a:t>0.388</a:t>
                      </a:r>
                      <a:endParaRPr lang="en-US" sz="1200">
                        <a:effectLst/>
                      </a:endParaRPr>
                    </a:p>
                  </a:txBody>
                  <a:tcPr marL="58370" marR="58370" marT="29185" marB="29185" anchor="ctr"/>
                </a:tc>
                <a:extLst>
                  <a:ext uri="{0D108BD9-81ED-4DB2-BD59-A6C34878D82A}">
                    <a16:rowId xmlns:a16="http://schemas.microsoft.com/office/drawing/2014/main" val="3663320654"/>
                  </a:ext>
                </a:extLst>
              </a:tr>
              <a:tr h="151952">
                <a:tc>
                  <a:txBody>
                    <a:bodyPr/>
                    <a:lstStyle/>
                    <a:p>
                      <a:pPr algn="l" rtl="0">
                        <a:buNone/>
                      </a:pPr>
                      <a:r>
                        <a:rPr lang="en-US" sz="1200" b="0">
                          <a:solidFill>
                            <a:srgbClr val="191919"/>
                          </a:solidFill>
                          <a:effectLst/>
                        </a:rPr>
                        <a:t>1.5</a:t>
                      </a:r>
                      <a:endParaRPr lang="en-US" sz="1200">
                        <a:effectLst/>
                      </a:endParaRPr>
                    </a:p>
                  </a:txBody>
                  <a:tcPr marL="58370" marR="58370" marT="29185" marB="29185" anchor="ctr"/>
                </a:tc>
                <a:tc>
                  <a:txBody>
                    <a:bodyPr/>
                    <a:lstStyle/>
                    <a:p>
                      <a:pPr algn="l" rtl="0">
                        <a:buNone/>
                      </a:pPr>
                      <a:r>
                        <a:rPr lang="en-US" sz="1200" b="0" dirty="0">
                          <a:solidFill>
                            <a:srgbClr val="191919"/>
                          </a:solidFill>
                          <a:effectLst/>
                        </a:rPr>
                        <a:t>0.385</a:t>
                      </a:r>
                      <a:endParaRPr lang="en-US" sz="1200" dirty="0">
                        <a:effectLst/>
                      </a:endParaRPr>
                    </a:p>
                  </a:txBody>
                  <a:tcPr marL="58370" marR="58370" marT="29185" marB="29185" anchor="ctr"/>
                </a:tc>
                <a:extLst>
                  <a:ext uri="{0D108BD9-81ED-4DB2-BD59-A6C34878D82A}">
                    <a16:rowId xmlns:a16="http://schemas.microsoft.com/office/drawing/2014/main" val="3511420089"/>
                  </a:ext>
                </a:extLst>
              </a:tr>
              <a:tr h="151952">
                <a:tc>
                  <a:txBody>
                    <a:bodyPr/>
                    <a:lstStyle/>
                    <a:p>
                      <a:pPr algn="l" rtl="0">
                        <a:buNone/>
                      </a:pPr>
                      <a:r>
                        <a:rPr lang="en-US" sz="1200" b="0">
                          <a:solidFill>
                            <a:srgbClr val="191919"/>
                          </a:solidFill>
                          <a:effectLst/>
                        </a:rPr>
                        <a:t>1.6</a:t>
                      </a:r>
                      <a:endParaRPr lang="en-US" sz="1200">
                        <a:effectLst/>
                      </a:endParaRPr>
                    </a:p>
                  </a:txBody>
                  <a:tcPr marL="58370" marR="58370" marT="29185" marB="29185" anchor="ctr"/>
                </a:tc>
                <a:tc>
                  <a:txBody>
                    <a:bodyPr/>
                    <a:lstStyle/>
                    <a:p>
                      <a:pPr algn="l" rtl="0">
                        <a:buNone/>
                      </a:pPr>
                      <a:r>
                        <a:rPr lang="en-US" sz="1200" b="0">
                          <a:solidFill>
                            <a:srgbClr val="191919"/>
                          </a:solidFill>
                          <a:effectLst/>
                        </a:rPr>
                        <a:t>0.382</a:t>
                      </a:r>
                      <a:endParaRPr lang="en-US" sz="1200">
                        <a:effectLst/>
                      </a:endParaRPr>
                    </a:p>
                  </a:txBody>
                  <a:tcPr marL="58370" marR="58370" marT="29185" marB="29185" anchor="ctr"/>
                </a:tc>
                <a:extLst>
                  <a:ext uri="{0D108BD9-81ED-4DB2-BD59-A6C34878D82A}">
                    <a16:rowId xmlns:a16="http://schemas.microsoft.com/office/drawing/2014/main" val="1351658965"/>
                  </a:ext>
                </a:extLst>
              </a:tr>
              <a:tr h="151952">
                <a:tc>
                  <a:txBody>
                    <a:bodyPr/>
                    <a:lstStyle/>
                    <a:p>
                      <a:pPr algn="l" rtl="0">
                        <a:buNone/>
                      </a:pPr>
                      <a:r>
                        <a:rPr lang="en-US" sz="1200" b="0">
                          <a:solidFill>
                            <a:srgbClr val="191919"/>
                          </a:solidFill>
                          <a:effectLst/>
                        </a:rPr>
                        <a:t>1.7</a:t>
                      </a:r>
                      <a:endParaRPr lang="en-US" sz="1200">
                        <a:effectLst/>
                      </a:endParaRPr>
                    </a:p>
                  </a:txBody>
                  <a:tcPr marL="58370" marR="58370" marT="29185" marB="29185" anchor="ctr"/>
                </a:tc>
                <a:tc>
                  <a:txBody>
                    <a:bodyPr/>
                    <a:lstStyle/>
                    <a:p>
                      <a:pPr algn="l" rtl="0">
                        <a:buNone/>
                      </a:pPr>
                      <a:r>
                        <a:rPr lang="en-US" sz="1200" b="0">
                          <a:solidFill>
                            <a:srgbClr val="191919"/>
                          </a:solidFill>
                          <a:effectLst/>
                        </a:rPr>
                        <a:t>0.378</a:t>
                      </a:r>
                      <a:endParaRPr lang="en-US" sz="1200">
                        <a:effectLst/>
                      </a:endParaRPr>
                    </a:p>
                  </a:txBody>
                  <a:tcPr marL="58370" marR="58370" marT="29185" marB="29185" anchor="ctr"/>
                </a:tc>
                <a:extLst>
                  <a:ext uri="{0D108BD9-81ED-4DB2-BD59-A6C34878D82A}">
                    <a16:rowId xmlns:a16="http://schemas.microsoft.com/office/drawing/2014/main" val="1415706879"/>
                  </a:ext>
                </a:extLst>
              </a:tr>
              <a:tr h="151952">
                <a:tc>
                  <a:txBody>
                    <a:bodyPr/>
                    <a:lstStyle/>
                    <a:p>
                      <a:pPr algn="l" rtl="0">
                        <a:buNone/>
                      </a:pPr>
                      <a:r>
                        <a:rPr lang="en-US" sz="1200" b="0">
                          <a:solidFill>
                            <a:srgbClr val="191919"/>
                          </a:solidFill>
                          <a:effectLst/>
                        </a:rPr>
                        <a:t>1.8</a:t>
                      </a:r>
                      <a:endParaRPr lang="en-US" sz="1200">
                        <a:effectLst/>
                      </a:endParaRPr>
                    </a:p>
                  </a:txBody>
                  <a:tcPr marL="58370" marR="58370" marT="29185" marB="29185" anchor="ctr"/>
                </a:tc>
                <a:tc>
                  <a:txBody>
                    <a:bodyPr/>
                    <a:lstStyle/>
                    <a:p>
                      <a:pPr algn="l" rtl="0">
                        <a:buNone/>
                      </a:pPr>
                      <a:r>
                        <a:rPr lang="en-US" sz="1200" b="0">
                          <a:solidFill>
                            <a:srgbClr val="191919"/>
                          </a:solidFill>
                          <a:effectLst/>
                        </a:rPr>
                        <a:t>0.375</a:t>
                      </a:r>
                      <a:endParaRPr lang="en-US" sz="1200">
                        <a:effectLst/>
                      </a:endParaRPr>
                    </a:p>
                  </a:txBody>
                  <a:tcPr marL="58370" marR="58370" marT="29185" marB="29185" anchor="ctr"/>
                </a:tc>
                <a:extLst>
                  <a:ext uri="{0D108BD9-81ED-4DB2-BD59-A6C34878D82A}">
                    <a16:rowId xmlns:a16="http://schemas.microsoft.com/office/drawing/2014/main" val="1371173521"/>
                  </a:ext>
                </a:extLst>
              </a:tr>
              <a:tr h="151952">
                <a:tc>
                  <a:txBody>
                    <a:bodyPr/>
                    <a:lstStyle/>
                    <a:p>
                      <a:pPr algn="l" rtl="0">
                        <a:buNone/>
                      </a:pPr>
                      <a:r>
                        <a:rPr lang="en-US" sz="1200" b="0">
                          <a:solidFill>
                            <a:srgbClr val="191919"/>
                          </a:solidFill>
                          <a:effectLst/>
                        </a:rPr>
                        <a:t>1.9</a:t>
                      </a:r>
                      <a:endParaRPr lang="en-US" sz="1200">
                        <a:effectLst/>
                      </a:endParaRPr>
                    </a:p>
                  </a:txBody>
                  <a:tcPr marL="58370" marR="58370" marT="29185" marB="29185" anchor="ctr"/>
                </a:tc>
                <a:tc>
                  <a:txBody>
                    <a:bodyPr/>
                    <a:lstStyle/>
                    <a:p>
                      <a:pPr algn="l" rtl="0">
                        <a:buNone/>
                      </a:pPr>
                      <a:r>
                        <a:rPr lang="en-US" sz="1200" b="0" dirty="0">
                          <a:solidFill>
                            <a:srgbClr val="191919"/>
                          </a:solidFill>
                          <a:effectLst/>
                        </a:rPr>
                        <a:t>0.371</a:t>
                      </a:r>
                      <a:endParaRPr lang="en-US" sz="1200" dirty="0">
                        <a:effectLst/>
                      </a:endParaRPr>
                    </a:p>
                  </a:txBody>
                  <a:tcPr marL="58370" marR="58370" marT="29185" marB="29185" anchor="ctr"/>
                </a:tc>
                <a:extLst>
                  <a:ext uri="{0D108BD9-81ED-4DB2-BD59-A6C34878D82A}">
                    <a16:rowId xmlns:a16="http://schemas.microsoft.com/office/drawing/2014/main" val="229816775"/>
                  </a:ext>
                </a:extLst>
              </a:tr>
            </a:tbl>
          </a:graphicData>
        </a:graphic>
      </p:graphicFrame>
      <p:sp>
        <p:nvSpPr>
          <p:cNvPr id="5" name="Rectangle 1">
            <a:extLst>
              <a:ext uri="{FF2B5EF4-FFF2-40B4-BE49-F238E27FC236}">
                <a16:creationId xmlns:a16="http://schemas.microsoft.com/office/drawing/2014/main" id="{8F96151E-7A2D-52D7-C204-D105DC1B2965}"/>
              </a:ext>
            </a:extLst>
          </p:cNvPr>
          <p:cNvSpPr>
            <a:spLocks noChangeArrowheads="1"/>
          </p:cNvSpPr>
          <p:nvPr/>
        </p:nvSpPr>
        <p:spPr bwMode="auto">
          <a:xfrm>
            <a:off x="-2571078" y="-25818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descr="A graph with a line&#10;&#10;AI-generated content may be incorrect.">
            <a:extLst>
              <a:ext uri="{FF2B5EF4-FFF2-40B4-BE49-F238E27FC236}">
                <a16:creationId xmlns:a16="http://schemas.microsoft.com/office/drawing/2014/main" id="{59974125-6666-E649-6CCF-1888AF6191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951" y="3429000"/>
            <a:ext cx="4758465" cy="2964533"/>
          </a:xfrm>
          <a:prstGeom prst="rect">
            <a:avLst/>
          </a:prstGeom>
        </p:spPr>
      </p:pic>
    </p:spTree>
    <p:extLst>
      <p:ext uri="{BB962C8B-B14F-4D97-AF65-F5344CB8AC3E}">
        <p14:creationId xmlns:p14="http://schemas.microsoft.com/office/powerpoint/2010/main" val="4172179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F9EE3C-A795-7A6E-1657-7E1AA51B63D6}"/>
              </a:ext>
            </a:extLst>
          </p:cNvPr>
          <p:cNvSpPr>
            <a:spLocks noGrp="1"/>
          </p:cNvSpPr>
          <p:nvPr>
            <p:ph type="title"/>
          </p:nvPr>
        </p:nvSpPr>
        <p:spPr>
          <a:xfrm>
            <a:off x="638882" y="639193"/>
            <a:ext cx="3571810" cy="1455078"/>
          </a:xfrm>
        </p:spPr>
        <p:txBody>
          <a:bodyPr vert="horz" lIns="91440" tIns="45720" rIns="91440" bIns="45720" rtlCol="0" anchor="b">
            <a:normAutofit fontScale="90000"/>
          </a:bodyPr>
          <a:lstStyle/>
          <a:p>
            <a:r>
              <a:rPr lang="en-US" sz="3200" b="1" i="1" kern="1200" dirty="0">
                <a:solidFill>
                  <a:schemeClr val="tx1"/>
                </a:solidFill>
                <a:latin typeface="+mj-lt"/>
                <a:ea typeface="+mj-ea"/>
                <a:cs typeface="+mj-cs"/>
              </a:rPr>
              <a:t>Looking at the map performance of 4 versions of LSA</a:t>
            </a:r>
            <a:br>
              <a:rPr lang="en-US" sz="4100" kern="1200" dirty="0">
                <a:solidFill>
                  <a:schemeClr val="tx1"/>
                </a:solidFill>
                <a:effectLst/>
                <a:latin typeface="+mj-lt"/>
                <a:ea typeface="+mj-ea"/>
                <a:cs typeface="+mj-cs"/>
              </a:rPr>
            </a:br>
            <a:endParaRPr lang="en-US" sz="4100" kern="1200" dirty="0">
              <a:solidFill>
                <a:schemeClr val="tx1"/>
              </a:solidFill>
              <a:latin typeface="+mj-lt"/>
              <a:ea typeface="+mj-ea"/>
              <a:cs typeface="+mj-cs"/>
            </a:endParaRPr>
          </a:p>
        </p:txBody>
      </p:sp>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EE4C0A54-7E20-509C-02D4-138FA53C478B}"/>
              </a:ext>
            </a:extLst>
          </p:cNvPr>
          <p:cNvGraphicFramePr>
            <a:graphicFrameLocks noGrp="1"/>
          </p:cNvGraphicFramePr>
          <p:nvPr>
            <p:ph idx="1"/>
            <p:extLst>
              <p:ext uri="{D42A27DB-BD31-4B8C-83A1-F6EECF244321}">
                <p14:modId xmlns:p14="http://schemas.microsoft.com/office/powerpoint/2010/main" val="1095142136"/>
              </p:ext>
            </p:extLst>
          </p:nvPr>
        </p:nvGraphicFramePr>
        <p:xfrm>
          <a:off x="5388077" y="388351"/>
          <a:ext cx="6072044" cy="4060900"/>
        </p:xfrm>
        <a:graphic>
          <a:graphicData uri="http://schemas.openxmlformats.org/drawingml/2006/table">
            <a:tbl>
              <a:tblPr firstRow="1" bandRow="1">
                <a:solidFill>
                  <a:schemeClr val="tx1">
                    <a:lumMod val="75000"/>
                    <a:lumOff val="25000"/>
                  </a:schemeClr>
                </a:solidFill>
              </a:tblPr>
              <a:tblGrid>
                <a:gridCol w="3930456">
                  <a:extLst>
                    <a:ext uri="{9D8B030D-6E8A-4147-A177-3AD203B41FA5}">
                      <a16:colId xmlns:a16="http://schemas.microsoft.com/office/drawing/2014/main" val="2473412310"/>
                    </a:ext>
                  </a:extLst>
                </a:gridCol>
                <a:gridCol w="2141588">
                  <a:extLst>
                    <a:ext uri="{9D8B030D-6E8A-4147-A177-3AD203B41FA5}">
                      <a16:colId xmlns:a16="http://schemas.microsoft.com/office/drawing/2014/main" val="3262153257"/>
                    </a:ext>
                  </a:extLst>
                </a:gridCol>
              </a:tblGrid>
              <a:tr h="693735">
                <a:tc>
                  <a:txBody>
                    <a:bodyPr/>
                    <a:lstStyle/>
                    <a:p>
                      <a:pPr algn="l" rtl="0">
                        <a:buNone/>
                      </a:pPr>
                      <a:r>
                        <a:rPr lang="en-US" sz="3700" b="1" i="1" cap="none" spc="0" dirty="0">
                          <a:solidFill>
                            <a:schemeClr val="bg1"/>
                          </a:solidFill>
                          <a:effectLst/>
                        </a:rPr>
                        <a:t>Method</a:t>
                      </a:r>
                      <a:endParaRPr lang="en-US" sz="3700" b="1" cap="none" spc="0" dirty="0">
                        <a:solidFill>
                          <a:schemeClr val="bg1"/>
                        </a:solidFill>
                        <a:effectLst/>
                      </a:endParaRPr>
                    </a:p>
                  </a:txBody>
                  <a:tcPr marL="147423" marR="210605" marT="42121" marB="315907"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algn="l" rtl="0">
                        <a:buNone/>
                      </a:pPr>
                      <a:r>
                        <a:rPr lang="en-US" sz="3700" b="1" i="1" cap="none" spc="0">
                          <a:solidFill>
                            <a:schemeClr val="bg1"/>
                          </a:solidFill>
                          <a:effectLst/>
                        </a:rPr>
                        <a:t>MAP</a:t>
                      </a:r>
                      <a:endParaRPr lang="en-US" sz="3700" b="1" cap="none" spc="0">
                        <a:solidFill>
                          <a:schemeClr val="bg1"/>
                        </a:solidFill>
                        <a:effectLst/>
                      </a:endParaRPr>
                    </a:p>
                  </a:txBody>
                  <a:tcPr marL="147423" marR="210605" marT="42121" marB="315907" anchor="b">
                    <a:lnL w="12700" cmpd="sng">
                      <a:noFill/>
                    </a:lnL>
                    <a:lnR w="12700" cmpd="sng">
                      <a:noFill/>
                    </a:lnR>
                    <a:lnT w="9525" cap="flat" cmpd="sng" algn="ctr">
                      <a:noFill/>
                      <a:prstDash val="solid"/>
                    </a:lnT>
                    <a:lnB w="38100" cmpd="sng">
                      <a:noFill/>
                    </a:lnB>
                    <a:solidFill>
                      <a:schemeClr val="tx1">
                        <a:lumMod val="75000"/>
                        <a:lumOff val="25000"/>
                      </a:schemeClr>
                    </a:solidFill>
                  </a:tcPr>
                </a:tc>
                <a:extLst>
                  <a:ext uri="{0D108BD9-81ED-4DB2-BD59-A6C34878D82A}">
                    <a16:rowId xmlns:a16="http://schemas.microsoft.com/office/drawing/2014/main" val="1283510212"/>
                  </a:ext>
                </a:extLst>
              </a:tr>
              <a:tr h="590522">
                <a:tc>
                  <a:txBody>
                    <a:bodyPr/>
                    <a:lstStyle/>
                    <a:p>
                      <a:pPr algn="l" rtl="0">
                        <a:buNone/>
                      </a:pPr>
                      <a:r>
                        <a:rPr lang="en-US" sz="2800" b="0" i="1" cap="none" spc="0" dirty="0">
                          <a:solidFill>
                            <a:schemeClr val="bg1"/>
                          </a:solidFill>
                          <a:effectLst/>
                        </a:rPr>
                        <a:t>LSA_RAW</a:t>
                      </a:r>
                      <a:endParaRPr lang="en-US" sz="2800" cap="none" spc="0" dirty="0">
                        <a:solidFill>
                          <a:schemeClr val="bg1"/>
                        </a:solidFill>
                        <a:effectLst/>
                      </a:endParaRPr>
                    </a:p>
                  </a:txBody>
                  <a:tcPr marL="147423" marR="210605" marT="42121" marB="315907" anchor="ctr">
                    <a:lnL w="12700" cap="flat" cmpd="sng" algn="ctr">
                      <a:solidFill>
                        <a:schemeClr val="bg1"/>
                      </a:solid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algn="l" rtl="0">
                        <a:buNone/>
                      </a:pPr>
                      <a:r>
                        <a:rPr lang="en-US" sz="2800" b="0" i="1" cap="none" spc="0">
                          <a:solidFill>
                            <a:schemeClr val="bg1"/>
                          </a:solidFill>
                          <a:effectLst/>
                        </a:rPr>
                        <a:t>0.398</a:t>
                      </a:r>
                      <a:endParaRPr lang="en-US" sz="2800" cap="none" spc="0">
                        <a:solidFill>
                          <a:schemeClr val="bg1"/>
                        </a:solidFill>
                        <a:effectLst/>
                      </a:endParaRPr>
                    </a:p>
                  </a:txBody>
                  <a:tcPr marL="147423" marR="210605" marT="42121" marB="315907"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1231608420"/>
                  </a:ext>
                </a:extLst>
              </a:tr>
              <a:tr h="590522">
                <a:tc>
                  <a:txBody>
                    <a:bodyPr/>
                    <a:lstStyle/>
                    <a:p>
                      <a:pPr algn="l" rtl="0">
                        <a:buNone/>
                      </a:pPr>
                      <a:r>
                        <a:rPr lang="en-US" sz="2800" b="0" i="1" cap="none" spc="0">
                          <a:solidFill>
                            <a:schemeClr val="bg1"/>
                          </a:solidFill>
                          <a:effectLst/>
                        </a:rPr>
                        <a:t>LSA_NROW_L1</a:t>
                      </a:r>
                      <a:endParaRPr lang="en-US" sz="2800" cap="none" spc="0">
                        <a:solidFill>
                          <a:schemeClr val="bg1"/>
                        </a:solidFill>
                        <a:effectLst/>
                      </a:endParaRPr>
                    </a:p>
                  </a:txBody>
                  <a:tcPr marL="147423" marR="210605" marT="42121" marB="315907"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algn="l" rtl="0">
                        <a:buNone/>
                      </a:pPr>
                      <a:r>
                        <a:rPr lang="en-US" sz="2800" b="0" i="1" cap="none" spc="0">
                          <a:solidFill>
                            <a:schemeClr val="bg1"/>
                          </a:solidFill>
                          <a:effectLst/>
                        </a:rPr>
                        <a:t>0.378</a:t>
                      </a:r>
                      <a:endParaRPr lang="en-US" sz="2800" cap="none" spc="0">
                        <a:solidFill>
                          <a:schemeClr val="bg1"/>
                        </a:solidFill>
                        <a:effectLst/>
                      </a:endParaRPr>
                    </a:p>
                  </a:txBody>
                  <a:tcPr marL="147423" marR="210605" marT="42121" marB="31590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3820516424"/>
                  </a:ext>
                </a:extLst>
              </a:tr>
              <a:tr h="590522">
                <a:tc>
                  <a:txBody>
                    <a:bodyPr/>
                    <a:lstStyle/>
                    <a:p>
                      <a:pPr algn="l" rtl="0">
                        <a:buNone/>
                      </a:pPr>
                      <a:r>
                        <a:rPr lang="en-US" sz="2800" b="0" i="1" cap="none" spc="0" dirty="0">
                          <a:solidFill>
                            <a:schemeClr val="bg1"/>
                          </a:solidFill>
                          <a:effectLst/>
                        </a:rPr>
                        <a:t>LSA_NROW_L2</a:t>
                      </a:r>
                      <a:endParaRPr lang="en-US" sz="2800" cap="none" spc="0" dirty="0">
                        <a:solidFill>
                          <a:schemeClr val="bg1"/>
                        </a:solidFill>
                        <a:effectLst/>
                      </a:endParaRPr>
                    </a:p>
                  </a:txBody>
                  <a:tcPr marL="147423" marR="210605" marT="42121" marB="315907"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algn="l" rtl="0">
                        <a:buNone/>
                      </a:pPr>
                      <a:r>
                        <a:rPr lang="en-US" sz="2800" b="0" i="1" cap="none" spc="0">
                          <a:solidFill>
                            <a:schemeClr val="bg1"/>
                          </a:solidFill>
                          <a:effectLst/>
                        </a:rPr>
                        <a:t>0.342</a:t>
                      </a:r>
                      <a:endParaRPr lang="en-US" sz="2800" cap="none" spc="0">
                        <a:solidFill>
                          <a:schemeClr val="bg1"/>
                        </a:solidFill>
                        <a:effectLst/>
                      </a:endParaRPr>
                    </a:p>
                  </a:txBody>
                  <a:tcPr marL="147423" marR="210605" marT="42121" marB="315907"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3209283721"/>
                  </a:ext>
                </a:extLst>
              </a:tr>
              <a:tr h="590522">
                <a:tc>
                  <a:txBody>
                    <a:bodyPr/>
                    <a:lstStyle/>
                    <a:p>
                      <a:pPr algn="l" rtl="0">
                        <a:buNone/>
                      </a:pPr>
                      <a:r>
                        <a:rPr lang="en-US" sz="2800" b="0" i="1" cap="none" spc="0">
                          <a:solidFill>
                            <a:schemeClr val="bg1"/>
                          </a:solidFill>
                          <a:effectLst/>
                        </a:rPr>
                        <a:t>LSA_TFIDF</a:t>
                      </a:r>
                      <a:endParaRPr lang="en-US" sz="2800" cap="none" spc="0">
                        <a:solidFill>
                          <a:schemeClr val="bg1"/>
                        </a:solidFill>
                        <a:effectLst/>
                      </a:endParaRPr>
                    </a:p>
                  </a:txBody>
                  <a:tcPr marL="147423" marR="210605" marT="42121" marB="315907"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algn="l" rtl="0">
                        <a:buNone/>
                      </a:pPr>
                      <a:r>
                        <a:rPr lang="en-US" sz="2800" b="0" i="1" cap="none" spc="0" dirty="0">
                          <a:solidFill>
                            <a:schemeClr val="bg1"/>
                          </a:solidFill>
                          <a:effectLst/>
                        </a:rPr>
                        <a:t>0.398</a:t>
                      </a:r>
                      <a:endParaRPr lang="en-US" sz="2800" cap="none" spc="0" dirty="0">
                        <a:solidFill>
                          <a:schemeClr val="bg1"/>
                        </a:solidFill>
                        <a:effectLst/>
                      </a:endParaRPr>
                    </a:p>
                  </a:txBody>
                  <a:tcPr marL="147423" marR="210605" marT="42121" marB="315907"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2663060120"/>
                  </a:ext>
                </a:extLst>
              </a:tr>
            </a:tbl>
          </a:graphicData>
        </a:graphic>
      </p:graphicFrame>
      <p:sp>
        <p:nvSpPr>
          <p:cNvPr id="5" name="Rectangle 1">
            <a:extLst>
              <a:ext uri="{FF2B5EF4-FFF2-40B4-BE49-F238E27FC236}">
                <a16:creationId xmlns:a16="http://schemas.microsoft.com/office/drawing/2014/main" id="{950F885E-776C-C87F-6C3A-8BD9D2434A1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descr="A graph of different colored bars&#10;&#10;AI-generated content may be incorrect.">
            <a:extLst>
              <a:ext uri="{FF2B5EF4-FFF2-40B4-BE49-F238E27FC236}">
                <a16:creationId xmlns:a16="http://schemas.microsoft.com/office/drawing/2014/main" id="{15C7CDA3-AF1A-E4BB-CA27-3393E1555B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08" y="1484826"/>
            <a:ext cx="4872453" cy="4522861"/>
          </a:xfrm>
          <a:prstGeom prst="rect">
            <a:avLst/>
          </a:prstGeom>
        </p:spPr>
      </p:pic>
    </p:spTree>
    <p:extLst>
      <p:ext uri="{BB962C8B-B14F-4D97-AF65-F5344CB8AC3E}">
        <p14:creationId xmlns:p14="http://schemas.microsoft.com/office/powerpoint/2010/main" val="1844757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124CD50-B6AD-1A9C-EDE3-EDDA68DEBFE6}"/>
              </a:ext>
            </a:extLst>
          </p:cNvPr>
          <p:cNvSpPr>
            <a:spLocks noGrp="1"/>
          </p:cNvSpPr>
          <p:nvPr>
            <p:ph type="title"/>
          </p:nvPr>
        </p:nvSpPr>
        <p:spPr>
          <a:xfrm>
            <a:off x="643468" y="643468"/>
            <a:ext cx="4620584" cy="1013210"/>
          </a:xfrm>
        </p:spPr>
        <p:txBody>
          <a:bodyPr vert="horz" lIns="91440" tIns="45720" rIns="91440" bIns="45720" rtlCol="0" anchor="b">
            <a:normAutofit fontScale="90000"/>
          </a:bodyPr>
          <a:lstStyle/>
          <a:p>
            <a:r>
              <a:rPr lang="en-US" sz="2400" b="1" i="1" kern="1200" dirty="0">
                <a:solidFill>
                  <a:schemeClr val="tx1"/>
                </a:solidFill>
                <a:latin typeface="+mj-lt"/>
                <a:ea typeface="+mj-ea"/>
                <a:cs typeface="+mj-cs"/>
              </a:rPr>
              <a:t>Looking for t</a:t>
            </a:r>
            <a:r>
              <a:rPr lang="en-US" sz="2400" b="1" i="1" dirty="0"/>
              <a:t>he</a:t>
            </a:r>
            <a:r>
              <a:rPr lang="en-US" sz="2400" b="1" i="1" kern="1200" dirty="0">
                <a:solidFill>
                  <a:schemeClr val="tx1"/>
                </a:solidFill>
                <a:latin typeface="+mj-lt"/>
                <a:ea typeface="+mj-ea"/>
                <a:cs typeface="+mj-cs"/>
              </a:rPr>
              <a:t> MAP performance of CA based on weighting</a:t>
            </a:r>
            <a:br>
              <a:rPr lang="en-US" kern="1200" dirty="0">
                <a:solidFill>
                  <a:schemeClr val="tx1"/>
                </a:solidFill>
                <a:effectLst/>
                <a:latin typeface="+mj-lt"/>
                <a:ea typeface="+mj-ea"/>
                <a:cs typeface="+mj-cs"/>
              </a:rPr>
            </a:br>
            <a:endParaRPr lang="en-US" kern="1200" dirty="0">
              <a:solidFill>
                <a:schemeClr val="tx1"/>
              </a:solidFill>
              <a:latin typeface="+mj-lt"/>
              <a:ea typeface="+mj-ea"/>
              <a:cs typeface="+mj-cs"/>
            </a:endParaRPr>
          </a:p>
        </p:txBody>
      </p:sp>
      <p:graphicFrame>
        <p:nvGraphicFramePr>
          <p:cNvPr id="4" name="Content Placeholder 3">
            <a:extLst>
              <a:ext uri="{FF2B5EF4-FFF2-40B4-BE49-F238E27FC236}">
                <a16:creationId xmlns:a16="http://schemas.microsoft.com/office/drawing/2014/main" id="{2BC1BBF6-B8D5-923D-0C73-219C0CDFCC75}"/>
              </a:ext>
            </a:extLst>
          </p:cNvPr>
          <p:cNvGraphicFramePr>
            <a:graphicFrameLocks noGrp="1"/>
          </p:cNvGraphicFramePr>
          <p:nvPr>
            <p:ph idx="1"/>
            <p:extLst>
              <p:ext uri="{D42A27DB-BD31-4B8C-83A1-F6EECF244321}">
                <p14:modId xmlns:p14="http://schemas.microsoft.com/office/powerpoint/2010/main" val="1093720711"/>
              </p:ext>
            </p:extLst>
          </p:nvPr>
        </p:nvGraphicFramePr>
        <p:xfrm>
          <a:off x="6606253" y="751989"/>
          <a:ext cx="4942281" cy="5354026"/>
        </p:xfrm>
        <a:graphic>
          <a:graphicData uri="http://schemas.openxmlformats.org/drawingml/2006/table">
            <a:tbl>
              <a:tblPr firstRow="1" bandRow="1">
                <a:noFill/>
              </a:tblPr>
              <a:tblGrid>
                <a:gridCol w="882900">
                  <a:extLst>
                    <a:ext uri="{9D8B030D-6E8A-4147-A177-3AD203B41FA5}">
                      <a16:colId xmlns:a16="http://schemas.microsoft.com/office/drawing/2014/main" val="1253006737"/>
                    </a:ext>
                  </a:extLst>
                </a:gridCol>
                <a:gridCol w="1755916">
                  <a:extLst>
                    <a:ext uri="{9D8B030D-6E8A-4147-A177-3AD203B41FA5}">
                      <a16:colId xmlns:a16="http://schemas.microsoft.com/office/drawing/2014/main" val="3180260903"/>
                    </a:ext>
                  </a:extLst>
                </a:gridCol>
                <a:gridCol w="2303465">
                  <a:extLst>
                    <a:ext uri="{9D8B030D-6E8A-4147-A177-3AD203B41FA5}">
                      <a16:colId xmlns:a16="http://schemas.microsoft.com/office/drawing/2014/main" val="428124302"/>
                    </a:ext>
                  </a:extLst>
                </a:gridCol>
              </a:tblGrid>
              <a:tr h="532561">
                <a:tc>
                  <a:txBody>
                    <a:bodyPr/>
                    <a:lstStyle/>
                    <a:p>
                      <a:pPr algn="l" rtl="0">
                        <a:buNone/>
                      </a:pPr>
                      <a:r>
                        <a:rPr lang="en-US" sz="1700" b="1" i="1" cap="none" spc="0">
                          <a:solidFill>
                            <a:schemeClr val="bg1"/>
                          </a:solidFill>
                          <a:effectLst/>
                        </a:rPr>
                        <a:t>k</a:t>
                      </a:r>
                      <a:endParaRPr lang="en-US" sz="1700" b="1" cap="none" spc="0">
                        <a:solidFill>
                          <a:schemeClr val="bg1"/>
                        </a:solidFill>
                        <a:effectLst/>
                      </a:endParaRPr>
                    </a:p>
                  </a:txBody>
                  <a:tcPr marL="78759" marR="56256" marT="112513" marB="112513" anchor="ctr">
                    <a:lnL w="12700" cmpd="sng">
                      <a:noFill/>
                    </a:lnL>
                    <a:lnR w="12700" cmpd="sng">
                      <a:noFill/>
                    </a:lnR>
                    <a:lnT w="19050" cap="flat" cmpd="sng" algn="ctr">
                      <a:noFill/>
                      <a:prstDash val="solid"/>
                    </a:lnT>
                    <a:lnB w="38100" cmpd="sng">
                      <a:noFill/>
                    </a:lnB>
                    <a:solidFill>
                      <a:schemeClr val="tx1"/>
                    </a:solidFill>
                  </a:tcPr>
                </a:tc>
                <a:tc>
                  <a:txBody>
                    <a:bodyPr/>
                    <a:lstStyle/>
                    <a:p>
                      <a:pPr algn="l" rtl="0">
                        <a:buNone/>
                      </a:pPr>
                      <a:r>
                        <a:rPr lang="en-US" sz="1700" b="1" i="1" cap="none" spc="0">
                          <a:solidFill>
                            <a:schemeClr val="bg1"/>
                          </a:solidFill>
                          <a:effectLst/>
                        </a:rPr>
                        <a:t>alpha</a:t>
                      </a:r>
                      <a:endParaRPr lang="en-US" sz="1700" b="1" cap="none" spc="0">
                        <a:solidFill>
                          <a:schemeClr val="bg1"/>
                        </a:solidFill>
                        <a:effectLst/>
                      </a:endParaRPr>
                    </a:p>
                  </a:txBody>
                  <a:tcPr marL="78759" marR="56256" marT="112513" marB="112513" anchor="ctr">
                    <a:lnL w="12700" cmpd="sng">
                      <a:noFill/>
                    </a:lnL>
                    <a:lnR w="12700" cmpd="sng">
                      <a:noFill/>
                    </a:lnR>
                    <a:lnT w="19050" cap="flat" cmpd="sng" algn="ctr">
                      <a:noFill/>
                      <a:prstDash val="solid"/>
                    </a:lnT>
                    <a:lnB w="38100" cmpd="sng">
                      <a:noFill/>
                    </a:lnB>
                    <a:solidFill>
                      <a:schemeClr val="tx1"/>
                    </a:solidFill>
                  </a:tcPr>
                </a:tc>
                <a:tc>
                  <a:txBody>
                    <a:bodyPr/>
                    <a:lstStyle/>
                    <a:p>
                      <a:pPr algn="l" rtl="0">
                        <a:buNone/>
                      </a:pPr>
                      <a:r>
                        <a:rPr lang="en-US" sz="1700" b="1" i="1" cap="none" spc="0">
                          <a:solidFill>
                            <a:schemeClr val="bg1"/>
                          </a:solidFill>
                          <a:effectLst/>
                        </a:rPr>
                        <a:t>CA_MAP</a:t>
                      </a:r>
                      <a:endParaRPr lang="en-US" sz="1700" b="1" cap="none" spc="0">
                        <a:solidFill>
                          <a:schemeClr val="bg1"/>
                        </a:solidFill>
                        <a:effectLst/>
                      </a:endParaRPr>
                    </a:p>
                  </a:txBody>
                  <a:tcPr marL="78759" marR="56256" marT="112513" marB="112513"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2036143961"/>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l" rtl="0">
                        <a:buNone/>
                      </a:pPr>
                      <a:r>
                        <a:rPr lang="en-US" sz="1500" b="0" i="1" cap="none" spc="0">
                          <a:solidFill>
                            <a:schemeClr val="tx1"/>
                          </a:solidFill>
                          <a:effectLst/>
                        </a:rPr>
                        <a:t>1.0</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lgn="l" rtl="0">
                        <a:buNone/>
                      </a:pPr>
                      <a:r>
                        <a:rPr lang="en-US" sz="1500" b="0" i="1" cap="none" spc="0">
                          <a:solidFill>
                            <a:schemeClr val="tx1"/>
                          </a:solidFill>
                          <a:effectLst/>
                        </a:rPr>
                        <a:t>640.00</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4023726835"/>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rtl="0">
                        <a:buNone/>
                      </a:pPr>
                      <a:r>
                        <a:rPr lang="en-US" sz="1500" b="0" i="1" cap="none" spc="0">
                          <a:solidFill>
                            <a:schemeClr val="tx1"/>
                          </a:solidFill>
                          <a:effectLst/>
                        </a:rPr>
                        <a:t>1.1</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rtl="0">
                        <a:buNone/>
                      </a:pPr>
                      <a:r>
                        <a:rPr lang="en-US" sz="1500" b="0" i="1" cap="none" spc="0">
                          <a:solidFill>
                            <a:schemeClr val="tx1"/>
                          </a:solidFill>
                          <a:effectLst/>
                        </a:rPr>
                        <a:t>640.00</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065877634"/>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rtl="0">
                        <a:buNone/>
                      </a:pPr>
                      <a:r>
                        <a:rPr lang="en-US" sz="1500" b="0" i="1" cap="none" spc="0">
                          <a:solidFill>
                            <a:schemeClr val="tx1"/>
                          </a:solidFill>
                          <a:effectLst/>
                        </a:rPr>
                        <a:t>1.2</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rtl="0">
                        <a:buNone/>
                      </a:pPr>
                      <a:r>
                        <a:rPr lang="en-US" sz="1500" b="0" i="1" cap="none" spc="0">
                          <a:solidFill>
                            <a:schemeClr val="tx1"/>
                          </a:solidFill>
                          <a:effectLst/>
                        </a:rPr>
                        <a:t>640.00</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3730353121"/>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rtl="0">
                        <a:buNone/>
                      </a:pPr>
                      <a:r>
                        <a:rPr lang="en-US" sz="1500" b="0" i="1" cap="none" spc="0">
                          <a:solidFill>
                            <a:schemeClr val="tx1"/>
                          </a:solidFill>
                          <a:effectLst/>
                        </a:rPr>
                        <a:t>1.3</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rtl="0">
                        <a:buNone/>
                      </a:pPr>
                      <a:r>
                        <a:rPr lang="en-US" sz="1500" b="0" i="1" cap="none" spc="0">
                          <a:solidFill>
                            <a:schemeClr val="tx1"/>
                          </a:solidFill>
                          <a:effectLst/>
                        </a:rPr>
                        <a:t>640.00</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557255656"/>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rtl="0">
                        <a:buNone/>
                      </a:pPr>
                      <a:r>
                        <a:rPr lang="en-US" sz="1500" b="0" i="1" cap="none" spc="0">
                          <a:solidFill>
                            <a:schemeClr val="tx1"/>
                          </a:solidFill>
                          <a:effectLst/>
                        </a:rPr>
                        <a:t>1.4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rtl="0">
                        <a:buNone/>
                      </a:pPr>
                      <a:r>
                        <a:rPr lang="en-US" sz="1500" b="0" i="1" cap="none" spc="0">
                          <a:solidFill>
                            <a:schemeClr val="tx1"/>
                          </a:solidFill>
                          <a:effectLst/>
                        </a:rPr>
                        <a:t>638.42</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2972505041"/>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rtl="0">
                        <a:buNone/>
                      </a:pPr>
                      <a:r>
                        <a:rPr lang="en-US" sz="1500" b="0" i="1" cap="none" spc="0">
                          <a:solidFill>
                            <a:schemeClr val="tx1"/>
                          </a:solidFill>
                          <a:effectLst/>
                        </a:rPr>
                        <a:t>1.5</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rtl="0">
                        <a:buNone/>
                      </a:pPr>
                      <a:r>
                        <a:rPr lang="en-US" sz="1500" b="0" i="1" cap="none" spc="0">
                          <a:solidFill>
                            <a:schemeClr val="tx1"/>
                          </a:solidFill>
                          <a:effectLst/>
                        </a:rPr>
                        <a:t>638.42</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913848898"/>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rtl="0">
                        <a:buNone/>
                      </a:pPr>
                      <a:r>
                        <a:rPr lang="en-US" sz="1500" b="0" i="1" cap="none" spc="0">
                          <a:solidFill>
                            <a:schemeClr val="tx1"/>
                          </a:solidFill>
                          <a:effectLst/>
                        </a:rPr>
                        <a:t>1.6</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rtl="0">
                        <a:buNone/>
                      </a:pPr>
                      <a:r>
                        <a:rPr lang="en-US" sz="1500" b="0" i="1" cap="none" spc="0">
                          <a:solidFill>
                            <a:schemeClr val="tx1"/>
                          </a:solidFill>
                          <a:effectLst/>
                        </a:rPr>
                        <a:t>638.42</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2805130718"/>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rtl="0">
                        <a:buNone/>
                      </a:pPr>
                      <a:r>
                        <a:rPr lang="en-US" sz="1500" b="0" i="1" cap="none" spc="0">
                          <a:solidFill>
                            <a:schemeClr val="tx1"/>
                          </a:solidFill>
                          <a:effectLst/>
                        </a:rPr>
                        <a:t>1.7</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rtl="0">
                        <a:buNone/>
                      </a:pPr>
                      <a:r>
                        <a:rPr lang="en-US" sz="1500" b="0" i="1" cap="none" spc="0">
                          <a:solidFill>
                            <a:schemeClr val="tx1"/>
                          </a:solidFill>
                          <a:effectLst/>
                        </a:rPr>
                        <a:t>638.42</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810050781"/>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rtl="0">
                        <a:buNone/>
                      </a:pPr>
                      <a:r>
                        <a:rPr lang="en-US" sz="1500" b="0" i="1" cap="none" spc="0">
                          <a:solidFill>
                            <a:schemeClr val="tx1"/>
                          </a:solidFill>
                          <a:effectLst/>
                        </a:rPr>
                        <a:t>1.8</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lgn="l" rtl="0">
                        <a:buNone/>
                      </a:pPr>
                      <a:r>
                        <a:rPr lang="en-US" sz="1500" b="0" i="1" cap="none" spc="0">
                          <a:solidFill>
                            <a:schemeClr val="tx1"/>
                          </a:solidFill>
                          <a:effectLst/>
                        </a:rPr>
                        <a:t>638.42</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879453459"/>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rtl="0">
                        <a:buNone/>
                      </a:pPr>
                      <a:r>
                        <a:rPr lang="en-US" sz="1500" b="0" i="1" cap="none" spc="0">
                          <a:solidFill>
                            <a:schemeClr val="tx1"/>
                          </a:solidFill>
                          <a:effectLst/>
                        </a:rPr>
                        <a:t>1.9</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lgn="l" rtl="0">
                        <a:buNone/>
                      </a:pPr>
                      <a:r>
                        <a:rPr lang="en-US" sz="1500" b="0" i="1" cap="none" spc="0">
                          <a:solidFill>
                            <a:schemeClr val="tx1"/>
                          </a:solidFill>
                          <a:effectLst/>
                        </a:rPr>
                        <a:t>638.42</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846070861"/>
                  </a:ext>
                </a:extLst>
              </a:tr>
              <a:tr h="438315">
                <a:tc>
                  <a:txBody>
                    <a:bodyPr/>
                    <a:lstStyle/>
                    <a:p>
                      <a:pPr algn="l" rtl="0">
                        <a:buNone/>
                      </a:pPr>
                      <a:r>
                        <a:rPr lang="en-US" sz="1500" b="0" i="1" cap="none" spc="0">
                          <a:solidFill>
                            <a:schemeClr val="tx1"/>
                          </a:solidFill>
                          <a:effectLst/>
                        </a:rPr>
                        <a:t>4</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buNone/>
                      </a:pPr>
                      <a:r>
                        <a:rPr lang="en-US" sz="1500" b="0" i="1" cap="none" spc="0">
                          <a:solidFill>
                            <a:schemeClr val="tx1"/>
                          </a:solidFill>
                          <a:effectLst/>
                        </a:rPr>
                        <a:t>2.0</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buNone/>
                      </a:pPr>
                      <a:r>
                        <a:rPr lang="en-US" sz="1500" b="0" i="1" cap="none" spc="0">
                          <a:solidFill>
                            <a:schemeClr val="tx1"/>
                          </a:solidFill>
                          <a:effectLst/>
                        </a:rPr>
                        <a:t>636.63</a:t>
                      </a:r>
                      <a:endParaRPr lang="en-US" sz="1500" cap="none" spc="0">
                        <a:solidFill>
                          <a:schemeClr val="tx1"/>
                        </a:solidFill>
                        <a:effectLst/>
                      </a:endParaRPr>
                    </a:p>
                  </a:txBody>
                  <a:tcPr marL="78759" marR="56256" marT="55772" marB="11251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47590015"/>
                  </a:ext>
                </a:extLst>
              </a:tr>
            </a:tbl>
          </a:graphicData>
        </a:graphic>
      </p:graphicFrame>
      <p:sp>
        <p:nvSpPr>
          <p:cNvPr id="5" name="Rectangle 1">
            <a:extLst>
              <a:ext uri="{FF2B5EF4-FFF2-40B4-BE49-F238E27FC236}">
                <a16:creationId xmlns:a16="http://schemas.microsoft.com/office/drawing/2014/main" id="{63941EA1-1DF5-A880-2F47-0DE854C59B8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descr="A graph with a red line&#10;&#10;AI-generated content may be incorrect.">
            <a:extLst>
              <a:ext uri="{FF2B5EF4-FFF2-40B4-BE49-F238E27FC236}">
                <a16:creationId xmlns:a16="http://schemas.microsoft.com/office/drawing/2014/main" id="{B26031B4-5170-8B45-B76E-64ACE046D1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629" y="1333207"/>
            <a:ext cx="6001588" cy="4191585"/>
          </a:xfrm>
          <a:prstGeom prst="rect">
            <a:avLst/>
          </a:prstGeom>
        </p:spPr>
      </p:pic>
    </p:spTree>
    <p:extLst>
      <p:ext uri="{BB962C8B-B14F-4D97-AF65-F5344CB8AC3E}">
        <p14:creationId xmlns:p14="http://schemas.microsoft.com/office/powerpoint/2010/main" val="539630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5E3C-422F-16A1-B86C-36B63B16229F}"/>
              </a:ext>
            </a:extLst>
          </p:cNvPr>
          <p:cNvSpPr>
            <a:spLocks noGrp="1"/>
          </p:cNvSpPr>
          <p:nvPr>
            <p:ph type="title"/>
          </p:nvPr>
        </p:nvSpPr>
        <p:spPr/>
        <p:txBody>
          <a:bodyPr/>
          <a:lstStyle/>
          <a:p>
            <a:r>
              <a:rPr lang="en-US" dirty="0"/>
              <a:t>Conclusion</a:t>
            </a:r>
            <a:br>
              <a:rPr lang="en-US" dirty="0">
                <a:effectLst/>
              </a:rPr>
            </a:br>
            <a:endParaRPr lang="en-US" dirty="0"/>
          </a:p>
        </p:txBody>
      </p:sp>
      <p:sp>
        <p:nvSpPr>
          <p:cNvPr id="3" name="Content Placeholder 2">
            <a:extLst>
              <a:ext uri="{FF2B5EF4-FFF2-40B4-BE49-F238E27FC236}">
                <a16:creationId xmlns:a16="http://schemas.microsoft.com/office/drawing/2014/main" id="{E1C5607F-5A7E-96BC-4313-177F6F2A1723}"/>
              </a:ext>
            </a:extLst>
          </p:cNvPr>
          <p:cNvSpPr>
            <a:spLocks noGrp="1"/>
          </p:cNvSpPr>
          <p:nvPr>
            <p:ph idx="1"/>
          </p:nvPr>
        </p:nvSpPr>
        <p:spPr/>
        <p:txBody>
          <a:bodyPr>
            <a:normAutofit fontScale="62500" lnSpcReduction="20000"/>
          </a:bodyPr>
          <a:lstStyle/>
          <a:p>
            <a:r>
              <a:rPr lang="en-US" dirty="0"/>
              <a:t>Both LSA and CA use SVD, but the key difference is the matrix they apply it to. LSA applies SVD to the weighted matrix A, which still contains marginal effects, while CA applies it to the matrix S of standardized residuals, where those marginal effects are </a:t>
            </a:r>
            <a:r>
              <a:rPr lang="en-US" dirty="0" err="1"/>
              <a:t>removed.Because</a:t>
            </a:r>
            <a:r>
              <a:rPr lang="en-US" dirty="0"/>
              <a:t> of this, CA focuses only on the relationships between documents and terms, whereas LSA includes extra information that isn’t useful for retrieval. The rank of S is also one less than that of A. With standard coordinates (α=1), LSA approximates Euclidean distances between document rows, while CA approximates chi-square distances. Adjusting α\alphaα changes how much weight is given to the top dimensions: values less than 1 downplay the early dimensions, and values greater than 1 emphasize them. The best α\alphaα for CA is usually higher than for LSA and often above 1. </a:t>
            </a:r>
            <a:r>
              <a:rPr lang="en-US" dirty="0" err="1"/>
              <a:t>Bullinaria</a:t>
            </a:r>
            <a:r>
              <a:rPr lang="en-US" dirty="0"/>
              <a:t> and Levy (2012) argued that the first few LSA dimensions often contain noise instead of helpful semantic information. Our results show that CA tends to rely more on these top dimensions than LSA, likely because CA removes margins while LSA does not. This suggests the margins in LSA contribute to early dimensions in ways that hurt retrieval. CA removes this irrelevant information, improving performance. CA is also connected to the idea of statistical independence (Greenacre, 1984), as its matrix S captures how much actual term-document associations differ from what would be expected under independence. The total departure from independence (measured by the chi-square statistic) is broken down into components using SVD. LSA, in contrast, is not linked to this statistical model. In our study, we compared four LSA variants—LSA-RAW, LSA-NROWL1, LSA-NROWL2, and LSA-TFIDF with CA, and found that CA consistently performed better in terms of MAP. Even when adjusting the exponent α\alphaα to improve LSA, CA still outperformed it across different numbers of dimensions.</a:t>
            </a:r>
            <a:endParaRPr lang="en-US" dirty="0">
              <a:effectLst/>
            </a:endParaRPr>
          </a:p>
          <a:p>
            <a:endParaRPr lang="en-US" dirty="0"/>
          </a:p>
        </p:txBody>
      </p:sp>
    </p:spTree>
    <p:extLst>
      <p:ext uri="{BB962C8B-B14F-4D97-AF65-F5344CB8AC3E}">
        <p14:creationId xmlns:p14="http://schemas.microsoft.com/office/powerpoint/2010/main" val="1101407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D7F1-5A43-A10F-633B-7565EFB0E97D}"/>
              </a:ext>
            </a:extLst>
          </p:cNvPr>
          <p:cNvSpPr>
            <a:spLocks noGrp="1"/>
          </p:cNvSpPr>
          <p:nvPr>
            <p:ph type="title"/>
          </p:nvPr>
        </p:nvSpPr>
        <p:spPr>
          <a:xfrm>
            <a:off x="2499852" y="2636377"/>
            <a:ext cx="10515600" cy="1325563"/>
          </a:xfrm>
        </p:spPr>
        <p:txBody>
          <a:bodyPr/>
          <a:lstStyle/>
          <a:p>
            <a:r>
              <a:rPr lang="en-US" dirty="0"/>
              <a:t>Thank you for your attention!</a:t>
            </a:r>
            <a:br>
              <a:rPr lang="en-US" dirty="0"/>
            </a:br>
            <a:endParaRPr lang="en-US" dirty="0"/>
          </a:p>
        </p:txBody>
      </p:sp>
    </p:spTree>
    <p:extLst>
      <p:ext uri="{BB962C8B-B14F-4D97-AF65-F5344CB8AC3E}">
        <p14:creationId xmlns:p14="http://schemas.microsoft.com/office/powerpoint/2010/main" val="1205541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1159</Words>
  <Application>Microsoft Office PowerPoint</Application>
  <PresentationFormat>Widescreen</PresentationFormat>
  <Paragraphs>184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 Improving information retrieval through correspondence analysis instead of latent semantic analysis. Comparison of LSA and CA regarding MAP </vt:lpstr>
      <vt:lpstr>Implementation of our project in R </vt:lpstr>
      <vt:lpstr>Preprocessing steps and construction of our Data Term Matrix </vt:lpstr>
      <vt:lpstr>Data in R environment after preprocessing</vt:lpstr>
      <vt:lpstr>LSA and CA implementation </vt:lpstr>
      <vt:lpstr>Biplots of LSA and CA </vt:lpstr>
      <vt:lpstr>Evaluation of CA and LSA based on MAP </vt:lpstr>
      <vt:lpstr>Weighting components of our LSA in order to improve the MAP </vt:lpstr>
      <vt:lpstr>Looking at the map performance of 4 versions of LSA </vt:lpstr>
      <vt:lpstr>Looking for the MAP performance of CA based on weighting </vt:lpstr>
      <vt:lpstr>Conclusion </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DAVLATMOH CHORSHAMBIEVA</dc:creator>
  <cp:lastModifiedBy>YOSIMIN AVAZBEKOVA</cp:lastModifiedBy>
  <cp:revision>2</cp:revision>
  <dcterms:created xsi:type="dcterms:W3CDTF">2025-07-07T09:29:37Z</dcterms:created>
  <dcterms:modified xsi:type="dcterms:W3CDTF">2025-07-07T20:07:16Z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2025-07-07T10:58:26Z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29983bff-d04f-4f9d-b782-0d35c55abffc</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ies>
</file>